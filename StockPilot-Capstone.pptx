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e994487-8699-d8c0-9df9-b18e89074089}">
          <p14:sldIdLst>
            <p14:sldId id="256"/>
            <p14:sldId id="257"/>
          </p14:sldIdLst>
        </p14:section>
        <p14:section name="Architecture" id="{8212fe08-db92-0226-1114-1fab628e8df5}">
          <p14:sldIdLst>
            <p14:sldId id="258"/>
            <p14:sldId id="259"/>
          </p14:sldIdLst>
        </p14:section>
        <p14:section name="Delivery pipeline" id="{6cdc1750-e55a-586c-9a79-a8eb853fa42e}">
          <p14:sldIdLst>
            <p14:sldId id="260"/>
            <p14:sldId id="261"/>
          </p14:sldIdLst>
        </p14:section>
        <p14:section name="Infrastructure" id="{e1613380-9a81-b21e-354d-94402abfd10d}">
          <p14:sldIdLst>
            <p14:sldId id="262"/>
            <p14:sldId id="263"/>
          </p14:sldIdLst>
        </p14:section>
        <p14:section name="Operations" id="{ea652c3b-815b-7110-13b3-0813aae7da78}">
          <p14:sldIdLst>
            <p14:sldId id="264"/>
            <p14:sldId id="265"/>
            <p14:sldId id="266"/>
            <p14:sldId id="267"/>
          </p14:sldIdLst>
        </p14:section>
        <p14:section name="Close" id="{226e904c-df9e-6595-bc87-69f3b3728227}">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Sarthak. My capstone is StockPilot, a small inventory management app for a warehouse. The app itself is simple on purpose; the point of the project is the path it takes from a git push on my laptop to a monitored, autoscaling Kubernetes deployment on AWS. The screenshot on the right is the real app, served from my EKS cluster through an AWS load balancer. The chips list every tool in the delivery chain, and I'll walk through them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inventory. Products carry the usual fields. The key design decision is that quantity can't be edited directly: every change goes through an adjustment that is stored as a stock movement with a reason, so there is a full audit trail. The API refuses to take stock below zero and returns 409. The dashboard computes inventory value, low and out-of-stock counts, and shows what needs reordering.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delivery path: I push to GitHub, GitHub Actions tests, builds and scans, pushes images to GitHub Container Registry tagged with the commit SHA, then Helm rolls them out. Terraform, in purple, builds everything AWS-side: a VPC with public subnets for load balancers and private subnets for nodes, and the EKS cluster. Inside the cluster an AWS Network Load Balancer feeds ingress-nginx, which routes slash to the React frontend and slash-api to the FastAPI backend. The backend talks to PostgreSQL running as a StatefulSet on an encrypted EBS volume, and Prometheus scrapes the backend's metrics for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about the app. Eleven endpoints: the CRUD ones, the stock adjust endpoint, stats and movements, plus the three operational ones Kubernetes and Prometheus use. Health is a cheap liveness check, ready actually queries the database, and metrics is for Prometheus. The schema is two tables, created by Alembic migrations; a third migration seeds demo data. There are fifteen tests, and they run against an in-memory SQLite database through a dependency override, so they never touch the real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GitHub Actions workflow has three stages. The test job runs pytest and builds the frontend; if a test fails, nothing else runs, so broken code never becomes an image. Then a matrix job builds the backend and frontend images, tags them with the commit SHA, scans them with Trivy and pushes to GHCR. On the right you can see the backend package with the full SHA as its tag. The last job deploys with Helm. Using the SHA instead of latest means I can always tell exactly which commit is running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every image for known CVEs in the OS packages and the application libraries, and the pipeline fails on any HIGH or CRITICAL issue that has a fix. My first images failed: 43 HIGH findings in the nginx Alpine base, and 4 in libraries that pip vendors internally. I fixed the first with a newer base plus apk upgrade, and the second by uninstalling pip from the runtime image, since it's only needed at build time. Now both images scan clean. I also pinned the Trivy action itself to a commit SHA, because release tags can be moved by an attacker. A clean scan doesn't prove an image is secure; it's one layer among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runs workloads but doesn't create its own network, so Terraform builds that. One apply creates 62 resources: the VPC, subnets in two availability zones, a single NAT gateway to keep costs down, the EKS cluster, a managed node group and the cluster add-ons. The EBS CSI driver gets its AWS permissions through EKS Pod Identity, so no static keys exist anywhere. Instead of clicking through the console, the whole environment is described in code, and terraform destroy removes it cleanly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cluster comes from one Helm chart. It creates the backend and frontend deployments, Postgres as a StatefulSet with its own volume, ClusterIP services, the ingress routes, the autoscaler and disruption budgets, a database secret with a generated password that survives upgrades, and the monitoring objects. Each pod has three probes: startup gives migrations time, liveness hits health, readiness hits ready, which checks the database. CI deploys a new release with helm upgrade, and helm rollback gets me back to any earlier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demo the Horizontal Pod Autoscaler I ran a load generator inside the cluster. CPU went to 437 percent of the request, way above the 60 percent target, and the HPA took the backend from 2 to its maximum of 6 pods. When I stopped the load, CPU dropped to 2 percent and after the two-minute scale-down window it went back to 2 pods. The HPA needs CPU requests on the pods and metrics-server; getting metrics-server reachable was one of the problems I'll show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through the FastAPI instrumentator: request counts, latency histograms and status codes, plus two business counters I added, adjustments by reason and units moved. A ServiceMonitor in the chart tells Prometheus to scrape every backend pod; both targets show UP. The Grafana dashboard is also part of the chart, so it appears automatically. You can see the load test: about 450 requests per second, p95 latency, zero server errors, and the CPU of each of the six pods during the scale-out.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 learned most from. My AWS account is on the new Free plan, which uses service control policies. First, every region except my home region was denied, so I moved to Sydney. Then the node group hung because t3.medium isn't Free Tier eligible; c7i-flex.large is, with the same CPU and memory. The EKS module creates an IAM OIDC provider for IRSA, which the plan blocks, so I switched to EKS Pod Identity. After deploying, half the requests timed out: the load balancer can land on a node whose nginx pod is on the other node, and node-to-node port 80 wasn't allowed. And the HPA had no metrics because the control plane couldn't reach metrics-server on 10251. Every fix went into Terraform, so the environment is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includes a troubleshooting lab with five deliberately broken manifests, each with a different symptom. For each, I start with kubectl get pods, then describe to read the events, logs with --previous for a crashed container, and endpointslices plus show-labels for service problems. Live, I can break the image tag or a service selector and walk through finding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StockPilot is tested on every push, scanned for vulnerabilities, containerised, runs on infrastructure defined as code, scales itself under load and is fully monitored. The code is on GitHub at the link shown, and the README links to the recorded demo video, where I commit a change and watch it go through the pipeline to the live cluster.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48640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2651760"/>
            <a:ext cx="5486400" cy="109728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StockPilot · DevOps Final Capstone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sarthakagarwal2060/stockpilot"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486400" cy="1188720"/>
          </a:xfrm>
          <a:prstGeom prst="rect">
            <a:avLst/>
          </a:prstGeom>
          <a:noFill/>
          <a:ln/>
        </p:spPr>
        <p:txBody>
          <a:bodyPr wrap="square" lIns="0" tIns="0" rIns="0" bIns="0" rtlCol="0" anchor="b"/>
          <a:lstStyle/>
          <a:p>
            <a:pPr algn="l" indent="0" marL="0">
              <a:buNone/>
            </a:pPr>
            <a:r>
              <a:rPr lang="en-US" sz="5400" b="1" dirty="0">
                <a:solidFill>
                  <a:schemeClr val="bg1"/>
                </a:solidFill>
              </a:rPr>
              <a:t>StockPilot</a:t>
            </a:r>
            <a:endParaRPr lang="en-US" sz="5400" dirty="0"/>
          </a:p>
        </p:txBody>
      </p:sp>
      <p:sp>
        <p:nvSpPr>
          <p:cNvPr id="3" name="Text 0"/>
          <p:cNvSpPr/>
          <p:nvPr>
            <p:ph idx="101" type="body" hasCustomPrompt="1"/>
          </p:nvPr>
        </p:nvSpPr>
        <p:spPr>
          <a:xfrm>
            <a:off x="640080" y="2651760"/>
            <a:ext cx="5486400" cy="1097280"/>
          </a:xfrm>
          <a:prstGeom prst="rect">
            <a:avLst/>
          </a:prstGeom>
          <a:noFill/>
          <a:ln/>
        </p:spPr>
        <p:txBody>
          <a:bodyPr wrap="square" lIns="0" tIns="0" rIns="0" bIns="0" rtlCol="0" anchor="t"/>
          <a:lstStyle/>
          <a:p>
            <a:pPr algn="l" indent="0" marL="0">
              <a:buNone/>
            </a:pPr>
            <a:r>
              <a:rPr lang="en-US" sz="2200" dirty="0">
                <a:solidFill>
                  <a:schemeClr val="accent1"/>
                </a:solidFill>
              </a:rPr>
              <a:t>Inventory management, delivered from git push to AWS EKS</a:t>
            </a:r>
            <a:endParaRPr lang="en-US" sz="2200" dirty="0"/>
          </a:p>
        </p:txBody>
      </p:sp>
      <p:sp>
        <p:nvSpPr>
          <p:cNvPr id="4" name="Text 2"/>
          <p:cNvSpPr txBox="1"/>
          <p:nvPr/>
        </p:nvSpPr>
        <p:spPr>
          <a:xfrm>
            <a:off x="640080" y="3886200"/>
            <a:ext cx="5486400" cy="365760"/>
          </a:xfrm>
          <a:prstGeom prst="rect">
            <a:avLst/>
          </a:prstGeom>
          <a:noFill/>
          <a:ln/>
        </p:spPr>
        <p:txBody>
          <a:bodyPr wrap="square" lIns="0" tIns="0" rIns="0" bIns="0" rtlCol="0" anchor="ctr"/>
          <a:lstStyle/>
          <a:p>
            <a:pPr indent="0" marL="0">
              <a:buNone/>
            </a:pPr>
            <a:r>
              <a:rPr lang="en-US" sz="1600" dirty="0">
                <a:solidFill>
                  <a:schemeClr val="bg2"/>
                </a:solidFill>
              </a:rPr>
              <a:t>DevOps Final Capstone · Sarthak Agarwal · October 2026</a:t>
            </a:r>
            <a:endParaRPr lang="en-US" sz="1600" dirty="0"/>
          </a:p>
        </p:txBody>
      </p:sp>
      <p:sp>
        <p:nvSpPr>
          <p:cNvPr id="5" name="Shape 3"/>
          <p:cNvSpPr/>
          <p:nvPr/>
        </p:nvSpPr>
        <p:spPr>
          <a:xfrm>
            <a:off x="640080" y="4846320"/>
            <a:ext cx="873252" cy="347472"/>
          </a:xfrm>
          <a:prstGeom prst="roundRect">
            <a:avLst>
              <a:gd name="adj" fmla="val 50000"/>
            </a:avLst>
          </a:prstGeom>
          <a:solidFill>
            <a:schemeClr val="tx2"/>
          </a:solidFill>
          <a:ln w="9525">
            <a:solidFill>
              <a:schemeClr val="accent1"/>
            </a:solidFill>
            <a:prstDash val="solid"/>
          </a:ln>
        </p:spPr>
      </p:sp>
      <p:sp>
        <p:nvSpPr>
          <p:cNvPr id="6" name="Text 4"/>
          <p:cNvSpPr txBox="1"/>
          <p:nvPr/>
        </p:nvSpPr>
        <p:spPr>
          <a:xfrm>
            <a:off x="640080" y="4846320"/>
            <a:ext cx="873252" cy="347472"/>
          </a:xfrm>
          <a:prstGeom prst="rect">
            <a:avLst/>
          </a:prstGeom>
          <a:noFill/>
          <a:ln/>
        </p:spPr>
        <p:txBody>
          <a:bodyPr wrap="square" lIns="0" tIns="0" rIns="0" bIns="0" rtlCol="0" anchor="ctr"/>
          <a:lstStyle/>
          <a:p>
            <a:pPr algn="ctr" indent="0" marL="0">
              <a:buNone/>
            </a:pPr>
            <a:r>
              <a:rPr lang="en-US" sz="1200" dirty="0">
                <a:solidFill>
                  <a:schemeClr val="bg1"/>
                </a:solidFill>
              </a:rPr>
              <a:t>FastAPI</a:t>
            </a:r>
            <a:endParaRPr lang="en-US" sz="1200" dirty="0"/>
          </a:p>
        </p:txBody>
      </p:sp>
      <p:sp>
        <p:nvSpPr>
          <p:cNvPr id="7" name="Shape 5"/>
          <p:cNvSpPr/>
          <p:nvPr/>
        </p:nvSpPr>
        <p:spPr>
          <a:xfrm>
            <a:off x="1623060" y="4846320"/>
            <a:ext cx="681228" cy="347472"/>
          </a:xfrm>
          <a:prstGeom prst="roundRect">
            <a:avLst>
              <a:gd name="adj" fmla="val 50000"/>
            </a:avLst>
          </a:prstGeom>
          <a:solidFill>
            <a:schemeClr val="tx2"/>
          </a:solidFill>
          <a:ln w="9525">
            <a:solidFill>
              <a:schemeClr val="accent1"/>
            </a:solidFill>
            <a:prstDash val="solid"/>
          </a:ln>
        </p:spPr>
      </p:sp>
      <p:sp>
        <p:nvSpPr>
          <p:cNvPr id="8" name="Text 6"/>
          <p:cNvSpPr txBox="1"/>
          <p:nvPr/>
        </p:nvSpPr>
        <p:spPr>
          <a:xfrm>
            <a:off x="1623060" y="4846320"/>
            <a:ext cx="681228" cy="347472"/>
          </a:xfrm>
          <a:prstGeom prst="rect">
            <a:avLst/>
          </a:prstGeom>
          <a:noFill/>
          <a:ln/>
        </p:spPr>
        <p:txBody>
          <a:bodyPr wrap="square" lIns="0" tIns="0" rIns="0" bIns="0" rtlCol="0" anchor="ctr"/>
          <a:lstStyle/>
          <a:p>
            <a:pPr algn="ctr" indent="0" marL="0">
              <a:buNone/>
            </a:pPr>
            <a:r>
              <a:rPr lang="en-US" sz="1200" dirty="0">
                <a:solidFill>
                  <a:schemeClr val="bg1"/>
                </a:solidFill>
              </a:rPr>
              <a:t>React</a:t>
            </a:r>
            <a:endParaRPr lang="en-US" sz="1200" dirty="0"/>
          </a:p>
        </p:txBody>
      </p:sp>
      <p:sp>
        <p:nvSpPr>
          <p:cNvPr id="9" name="Shape 7"/>
          <p:cNvSpPr/>
          <p:nvPr/>
        </p:nvSpPr>
        <p:spPr>
          <a:xfrm>
            <a:off x="2414016" y="4846320"/>
            <a:ext cx="1161288" cy="347472"/>
          </a:xfrm>
          <a:prstGeom prst="roundRect">
            <a:avLst>
              <a:gd name="adj" fmla="val 50000"/>
            </a:avLst>
          </a:prstGeom>
          <a:solidFill>
            <a:schemeClr val="tx2"/>
          </a:solidFill>
          <a:ln w="9525">
            <a:solidFill>
              <a:schemeClr val="accent1"/>
            </a:solidFill>
            <a:prstDash val="solid"/>
          </a:ln>
        </p:spPr>
      </p:sp>
      <p:sp>
        <p:nvSpPr>
          <p:cNvPr id="10" name="Text 8"/>
          <p:cNvSpPr txBox="1"/>
          <p:nvPr/>
        </p:nvSpPr>
        <p:spPr>
          <a:xfrm>
            <a:off x="2414016" y="4846320"/>
            <a:ext cx="1161288" cy="347472"/>
          </a:xfrm>
          <a:prstGeom prst="rect">
            <a:avLst/>
          </a:prstGeom>
          <a:noFill/>
          <a:ln/>
        </p:spPr>
        <p:txBody>
          <a:bodyPr wrap="square" lIns="0" tIns="0" rIns="0" bIns="0" rtlCol="0" anchor="ctr"/>
          <a:lstStyle/>
          <a:p>
            <a:pPr algn="ctr" indent="0" marL="0">
              <a:buNone/>
            </a:pPr>
            <a:r>
              <a:rPr lang="en-US" sz="1200" dirty="0">
                <a:solidFill>
                  <a:schemeClr val="bg1"/>
                </a:solidFill>
              </a:rPr>
              <a:t>PostgreSQL</a:t>
            </a:r>
            <a:endParaRPr lang="en-US" sz="1200" dirty="0"/>
          </a:p>
        </p:txBody>
      </p:sp>
      <p:sp>
        <p:nvSpPr>
          <p:cNvPr id="11" name="Shape 9"/>
          <p:cNvSpPr/>
          <p:nvPr/>
        </p:nvSpPr>
        <p:spPr>
          <a:xfrm>
            <a:off x="3685032" y="4846320"/>
            <a:ext cx="777240" cy="347472"/>
          </a:xfrm>
          <a:prstGeom prst="roundRect">
            <a:avLst>
              <a:gd name="adj" fmla="val 50000"/>
            </a:avLst>
          </a:prstGeom>
          <a:solidFill>
            <a:schemeClr val="tx2"/>
          </a:solidFill>
          <a:ln w="9525">
            <a:solidFill>
              <a:schemeClr val="accent1"/>
            </a:solidFill>
            <a:prstDash val="solid"/>
          </a:ln>
        </p:spPr>
      </p:sp>
      <p:sp>
        <p:nvSpPr>
          <p:cNvPr id="12" name="Text 10"/>
          <p:cNvSpPr txBox="1"/>
          <p:nvPr/>
        </p:nvSpPr>
        <p:spPr>
          <a:xfrm>
            <a:off x="3685032" y="4846320"/>
            <a:ext cx="777240" cy="347472"/>
          </a:xfrm>
          <a:prstGeom prst="rect">
            <a:avLst/>
          </a:prstGeom>
          <a:noFill/>
          <a:ln/>
        </p:spPr>
        <p:txBody>
          <a:bodyPr wrap="square" lIns="0" tIns="0" rIns="0" bIns="0" rtlCol="0" anchor="ctr"/>
          <a:lstStyle/>
          <a:p>
            <a:pPr algn="ctr" indent="0" marL="0">
              <a:buNone/>
            </a:pPr>
            <a:r>
              <a:rPr lang="en-US" sz="1200" dirty="0">
                <a:solidFill>
                  <a:schemeClr val="bg1"/>
                </a:solidFill>
              </a:rPr>
              <a:t>Docker</a:t>
            </a:r>
            <a:endParaRPr lang="en-US" sz="1200" dirty="0"/>
          </a:p>
        </p:txBody>
      </p:sp>
      <p:sp>
        <p:nvSpPr>
          <p:cNvPr id="13" name="Shape 11"/>
          <p:cNvSpPr/>
          <p:nvPr/>
        </p:nvSpPr>
        <p:spPr>
          <a:xfrm>
            <a:off x="4572000" y="4846320"/>
            <a:ext cx="1545336" cy="347472"/>
          </a:xfrm>
          <a:prstGeom prst="roundRect">
            <a:avLst>
              <a:gd name="adj" fmla="val 50000"/>
            </a:avLst>
          </a:prstGeom>
          <a:solidFill>
            <a:schemeClr val="tx2"/>
          </a:solidFill>
          <a:ln w="9525">
            <a:solidFill>
              <a:schemeClr val="accent1"/>
            </a:solidFill>
            <a:prstDash val="solid"/>
          </a:ln>
        </p:spPr>
      </p:sp>
      <p:sp>
        <p:nvSpPr>
          <p:cNvPr id="14" name="Text 12"/>
          <p:cNvSpPr txBox="1"/>
          <p:nvPr/>
        </p:nvSpPr>
        <p:spPr>
          <a:xfrm>
            <a:off x="4572000" y="4846320"/>
            <a:ext cx="1545336" cy="347472"/>
          </a:xfrm>
          <a:prstGeom prst="rect">
            <a:avLst/>
          </a:prstGeom>
          <a:noFill/>
          <a:ln/>
        </p:spPr>
        <p:txBody>
          <a:bodyPr wrap="square" lIns="0" tIns="0" rIns="0" bIns="0" rtlCol="0" anchor="ctr"/>
          <a:lstStyle/>
          <a:p>
            <a:pPr algn="ctr" indent="0" marL="0">
              <a:buNone/>
            </a:pPr>
            <a:r>
              <a:rPr lang="en-US" sz="1200" dirty="0">
                <a:solidFill>
                  <a:schemeClr val="bg1"/>
                </a:solidFill>
              </a:rPr>
              <a:t>GitHub Actions</a:t>
            </a:r>
            <a:endParaRPr lang="en-US" sz="1200" dirty="0"/>
          </a:p>
        </p:txBody>
      </p:sp>
      <p:sp>
        <p:nvSpPr>
          <p:cNvPr id="15" name="Shape 13"/>
          <p:cNvSpPr/>
          <p:nvPr/>
        </p:nvSpPr>
        <p:spPr>
          <a:xfrm>
            <a:off x="640080" y="5303520"/>
            <a:ext cx="681228" cy="347472"/>
          </a:xfrm>
          <a:prstGeom prst="roundRect">
            <a:avLst>
              <a:gd name="adj" fmla="val 50000"/>
            </a:avLst>
          </a:prstGeom>
          <a:solidFill>
            <a:schemeClr val="tx2"/>
          </a:solidFill>
          <a:ln w="9525">
            <a:solidFill>
              <a:schemeClr val="accent1"/>
            </a:solidFill>
            <a:prstDash val="solid"/>
          </a:ln>
        </p:spPr>
      </p:sp>
      <p:sp>
        <p:nvSpPr>
          <p:cNvPr id="16" name="Text 14"/>
          <p:cNvSpPr txBox="1"/>
          <p:nvPr/>
        </p:nvSpPr>
        <p:spPr>
          <a:xfrm>
            <a:off x="640080" y="5303520"/>
            <a:ext cx="681228" cy="347472"/>
          </a:xfrm>
          <a:prstGeom prst="rect">
            <a:avLst/>
          </a:prstGeom>
          <a:noFill/>
          <a:ln/>
        </p:spPr>
        <p:txBody>
          <a:bodyPr wrap="square" lIns="0" tIns="0" rIns="0" bIns="0" rtlCol="0" anchor="ctr"/>
          <a:lstStyle/>
          <a:p>
            <a:pPr algn="ctr" indent="0" marL="0">
              <a:buNone/>
            </a:pPr>
            <a:r>
              <a:rPr lang="en-US" sz="1200" dirty="0">
                <a:solidFill>
                  <a:schemeClr val="bg1"/>
                </a:solidFill>
              </a:rPr>
              <a:t>Trivy</a:t>
            </a:r>
            <a:endParaRPr lang="en-US" sz="1200" dirty="0"/>
          </a:p>
        </p:txBody>
      </p:sp>
      <p:sp>
        <p:nvSpPr>
          <p:cNvPr id="17" name="Shape 15"/>
          <p:cNvSpPr/>
          <p:nvPr/>
        </p:nvSpPr>
        <p:spPr>
          <a:xfrm>
            <a:off x="1431036" y="5303520"/>
            <a:ext cx="1065276" cy="347472"/>
          </a:xfrm>
          <a:prstGeom prst="roundRect">
            <a:avLst>
              <a:gd name="adj" fmla="val 50000"/>
            </a:avLst>
          </a:prstGeom>
          <a:solidFill>
            <a:schemeClr val="tx2"/>
          </a:solidFill>
          <a:ln w="9525">
            <a:solidFill>
              <a:schemeClr val="accent1"/>
            </a:solidFill>
            <a:prstDash val="solid"/>
          </a:ln>
        </p:spPr>
      </p:sp>
      <p:sp>
        <p:nvSpPr>
          <p:cNvPr id="18" name="Text 16"/>
          <p:cNvSpPr txBox="1"/>
          <p:nvPr/>
        </p:nvSpPr>
        <p:spPr>
          <a:xfrm>
            <a:off x="1431036" y="5303520"/>
            <a:ext cx="1065276" cy="347472"/>
          </a:xfrm>
          <a:prstGeom prst="rect">
            <a:avLst/>
          </a:prstGeom>
          <a:noFill/>
          <a:ln/>
        </p:spPr>
        <p:txBody>
          <a:bodyPr wrap="square" lIns="0" tIns="0" rIns="0" bIns="0" rtlCol="0" anchor="ctr"/>
          <a:lstStyle/>
          <a:p>
            <a:pPr algn="ctr" indent="0" marL="0">
              <a:buNone/>
            </a:pPr>
            <a:r>
              <a:rPr lang="en-US" sz="1200" dirty="0">
                <a:solidFill>
                  <a:schemeClr val="bg1"/>
                </a:solidFill>
              </a:rPr>
              <a:t>Terraform</a:t>
            </a:r>
            <a:endParaRPr lang="en-US" sz="1200" dirty="0"/>
          </a:p>
        </p:txBody>
      </p:sp>
      <p:sp>
        <p:nvSpPr>
          <p:cNvPr id="19" name="Shape 17"/>
          <p:cNvSpPr/>
          <p:nvPr/>
        </p:nvSpPr>
        <p:spPr>
          <a:xfrm>
            <a:off x="2606040" y="5303520"/>
            <a:ext cx="489204" cy="347472"/>
          </a:xfrm>
          <a:prstGeom prst="roundRect">
            <a:avLst>
              <a:gd name="adj" fmla="val 50000"/>
            </a:avLst>
          </a:prstGeom>
          <a:solidFill>
            <a:schemeClr val="tx2"/>
          </a:solidFill>
          <a:ln w="9525">
            <a:solidFill>
              <a:schemeClr val="accent1"/>
            </a:solidFill>
            <a:prstDash val="solid"/>
          </a:ln>
        </p:spPr>
      </p:sp>
      <p:sp>
        <p:nvSpPr>
          <p:cNvPr id="20" name="Text 18"/>
          <p:cNvSpPr txBox="1"/>
          <p:nvPr/>
        </p:nvSpPr>
        <p:spPr>
          <a:xfrm>
            <a:off x="2606040" y="5303520"/>
            <a:ext cx="489204" cy="347472"/>
          </a:xfrm>
          <a:prstGeom prst="rect">
            <a:avLst/>
          </a:prstGeom>
          <a:noFill/>
          <a:ln/>
        </p:spPr>
        <p:txBody>
          <a:bodyPr wrap="square" lIns="0" tIns="0" rIns="0" bIns="0" rtlCol="0" anchor="ctr"/>
          <a:lstStyle/>
          <a:p>
            <a:pPr algn="ctr" indent="0" marL="0">
              <a:buNone/>
            </a:pPr>
            <a:r>
              <a:rPr lang="en-US" sz="1200" dirty="0">
                <a:solidFill>
                  <a:schemeClr val="bg1"/>
                </a:solidFill>
              </a:rPr>
              <a:t>EKS</a:t>
            </a:r>
            <a:endParaRPr lang="en-US" sz="1200" dirty="0"/>
          </a:p>
        </p:txBody>
      </p:sp>
      <p:sp>
        <p:nvSpPr>
          <p:cNvPr id="21" name="Shape 19"/>
          <p:cNvSpPr/>
          <p:nvPr/>
        </p:nvSpPr>
        <p:spPr>
          <a:xfrm>
            <a:off x="3204972" y="5303520"/>
            <a:ext cx="585216" cy="347472"/>
          </a:xfrm>
          <a:prstGeom prst="roundRect">
            <a:avLst>
              <a:gd name="adj" fmla="val 50000"/>
            </a:avLst>
          </a:prstGeom>
          <a:solidFill>
            <a:schemeClr val="tx2"/>
          </a:solidFill>
          <a:ln w="9525">
            <a:solidFill>
              <a:schemeClr val="accent1"/>
            </a:solidFill>
            <a:prstDash val="solid"/>
          </a:ln>
        </p:spPr>
      </p:sp>
      <p:sp>
        <p:nvSpPr>
          <p:cNvPr id="22" name="Text 20"/>
          <p:cNvSpPr txBox="1"/>
          <p:nvPr/>
        </p:nvSpPr>
        <p:spPr>
          <a:xfrm>
            <a:off x="3204972" y="5303520"/>
            <a:ext cx="585216" cy="347472"/>
          </a:xfrm>
          <a:prstGeom prst="rect">
            <a:avLst/>
          </a:prstGeom>
          <a:noFill/>
          <a:ln/>
        </p:spPr>
        <p:txBody>
          <a:bodyPr wrap="square" lIns="0" tIns="0" rIns="0" bIns="0" rtlCol="0" anchor="ctr"/>
          <a:lstStyle/>
          <a:p>
            <a:pPr algn="ctr" indent="0" marL="0">
              <a:buNone/>
            </a:pPr>
            <a:r>
              <a:rPr lang="en-US" sz="1200" dirty="0">
                <a:solidFill>
                  <a:schemeClr val="bg1"/>
                </a:solidFill>
              </a:rPr>
              <a:t>Helm</a:t>
            </a:r>
            <a:endParaRPr lang="en-US" sz="1200" dirty="0"/>
          </a:p>
        </p:txBody>
      </p:sp>
      <p:sp>
        <p:nvSpPr>
          <p:cNvPr id="23" name="Shape 21"/>
          <p:cNvSpPr/>
          <p:nvPr/>
        </p:nvSpPr>
        <p:spPr>
          <a:xfrm>
            <a:off x="3899916" y="5303520"/>
            <a:ext cx="1161288" cy="347472"/>
          </a:xfrm>
          <a:prstGeom prst="roundRect">
            <a:avLst>
              <a:gd name="adj" fmla="val 50000"/>
            </a:avLst>
          </a:prstGeom>
          <a:solidFill>
            <a:schemeClr val="tx2"/>
          </a:solidFill>
          <a:ln w="9525">
            <a:solidFill>
              <a:schemeClr val="accent1"/>
            </a:solidFill>
            <a:prstDash val="solid"/>
          </a:ln>
        </p:spPr>
      </p:sp>
      <p:sp>
        <p:nvSpPr>
          <p:cNvPr id="24" name="Text 22"/>
          <p:cNvSpPr txBox="1"/>
          <p:nvPr/>
        </p:nvSpPr>
        <p:spPr>
          <a:xfrm>
            <a:off x="3899916" y="5303520"/>
            <a:ext cx="1161288" cy="347472"/>
          </a:xfrm>
          <a:prstGeom prst="rect">
            <a:avLst/>
          </a:prstGeom>
          <a:noFill/>
          <a:ln/>
        </p:spPr>
        <p:txBody>
          <a:bodyPr wrap="square" lIns="0" tIns="0" rIns="0" bIns="0" rtlCol="0" anchor="ctr"/>
          <a:lstStyle/>
          <a:p>
            <a:pPr algn="ctr" indent="0" marL="0">
              <a:buNone/>
            </a:pPr>
            <a:r>
              <a:rPr lang="en-US" sz="1200" dirty="0">
                <a:solidFill>
                  <a:schemeClr val="bg1"/>
                </a:solidFill>
              </a:rPr>
              <a:t>Prometheus</a:t>
            </a:r>
            <a:endParaRPr lang="en-US" sz="1200" dirty="0"/>
          </a:p>
        </p:txBody>
      </p:sp>
      <p:sp>
        <p:nvSpPr>
          <p:cNvPr id="25" name="Shape 23"/>
          <p:cNvSpPr/>
          <p:nvPr/>
        </p:nvSpPr>
        <p:spPr>
          <a:xfrm>
            <a:off x="5170932" y="5303520"/>
            <a:ext cx="873252" cy="347472"/>
          </a:xfrm>
          <a:prstGeom prst="roundRect">
            <a:avLst>
              <a:gd name="adj" fmla="val 50000"/>
            </a:avLst>
          </a:prstGeom>
          <a:solidFill>
            <a:schemeClr val="tx2"/>
          </a:solidFill>
          <a:ln w="9525">
            <a:solidFill>
              <a:schemeClr val="accent1"/>
            </a:solidFill>
            <a:prstDash val="solid"/>
          </a:ln>
        </p:spPr>
      </p:sp>
      <p:sp>
        <p:nvSpPr>
          <p:cNvPr id="26" name="Text 24"/>
          <p:cNvSpPr txBox="1"/>
          <p:nvPr/>
        </p:nvSpPr>
        <p:spPr>
          <a:xfrm>
            <a:off x="5170932" y="5303520"/>
            <a:ext cx="873252" cy="347472"/>
          </a:xfrm>
          <a:prstGeom prst="rect">
            <a:avLst/>
          </a:prstGeom>
          <a:noFill/>
          <a:ln/>
        </p:spPr>
        <p:txBody>
          <a:bodyPr wrap="square" lIns="0" tIns="0" rIns="0" bIns="0" rtlCol="0" anchor="ctr"/>
          <a:lstStyle/>
          <a:p>
            <a:pPr algn="ctr" indent="0" marL="0">
              <a:buNone/>
            </a:pPr>
            <a:r>
              <a:rPr lang="en-US" sz="1200" dirty="0">
                <a:solidFill>
                  <a:schemeClr val="bg1"/>
                </a:solidFill>
              </a:rPr>
              <a:t>Grafana</a:t>
            </a:r>
            <a:endParaRPr lang="en-US" sz="1200" dirty="0"/>
          </a:p>
        </p:txBody>
      </p:sp>
      <p:sp>
        <p:nvSpPr>
          <p:cNvPr id="27" name="frame 12-ingress-browser.png"/>
          <p:cNvSpPr/>
          <p:nvPr/>
        </p:nvSpPr>
        <p:spPr>
          <a:xfrm>
            <a:off x="6638544" y="1905690"/>
            <a:ext cx="5010912" cy="3046621"/>
          </a:xfrm>
          <a:prstGeom prst="rect">
            <a:avLst/>
          </a:prstGeom>
          <a:solidFill>
            <a:schemeClr val="tx2"/>
          </a:solidFill>
          <a:ln w="12700">
            <a:solidFill>
              <a:srgbClr val="334155"/>
            </a:solidFill>
            <a:prstDash val="solid"/>
          </a:ln>
          <a:effectLst>
            <a:outerShdw sx="100000" sy="100000" kx="0" ky="0" algn="bl" rotWithShape="0" blurRad="101600" dist="25400" dir="5400000">
              <a:srgbClr val="0F172A">
                <a:alpha val="18000"/>
              </a:srgbClr>
            </a:outerShdw>
          </a:effectLst>
        </p:spPr>
      </p:sp>
      <p:pic>
        <p:nvPicPr>
          <p:cNvPr id="28" name="12-ingress-browser.png" descr="StockPilot dashboard served from AWS EKS">    </p:cNvPr>
          <p:cNvPicPr>
            <a:picLocks noChangeAspect="1"/>
          </p:cNvPicPr>
          <p:nvPr/>
        </p:nvPicPr>
        <p:blipFill>
          <a:blip r:embed="rId1"/>
          <a:stretch>
            <a:fillRect/>
          </a:stretch>
        </p:blipFill>
        <p:spPr>
          <a:xfrm>
            <a:off x="6675120" y="1942266"/>
            <a:ext cx="4937760" cy="29734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What StockPilot does</a:t>
            </a:r>
            <a:endParaRPr lang="en-US" sz="3000" dirty="0"/>
          </a:p>
        </p:txBody>
      </p:sp>
      <p:sp>
        <p:nvSpPr>
          <p:cNvPr id="3" name="Shape 1"/>
          <p:cNvSpPr/>
          <p:nvPr/>
        </p:nvSpPr>
        <p:spPr>
          <a:xfrm>
            <a:off x="548640" y="1371600"/>
            <a:ext cx="502920" cy="502920"/>
          </a:xfrm>
          <a:prstGeom prst="ellipse">
            <a:avLst/>
          </a:prstGeom>
          <a:solidFill>
            <a:schemeClr val="accent1"/>
          </a:solidFill>
          <a:ln w="6350">
            <a:solidFill>
              <a:schemeClr val="accent1"/>
            </a:solidFill>
            <a:prstDash val="solid"/>
          </a:ln>
        </p:spPr>
      </p:sp>
      <p:sp>
        <p:nvSpPr>
          <p:cNvPr id="4" name="Text 2"/>
          <p:cNvSpPr txBox="1"/>
          <p:nvPr/>
        </p:nvSpPr>
        <p:spPr>
          <a:xfrm>
            <a:off x="548640" y="1371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5" name="Text 3"/>
          <p:cNvSpPr txBox="1"/>
          <p:nvPr/>
        </p:nvSpPr>
        <p:spPr>
          <a:xfrm>
            <a:off x="1234440" y="1325880"/>
            <a:ext cx="4206240"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Product catalog</a:t>
            </a:r>
            <a:endParaRPr lang="en-US" sz="2000" dirty="0"/>
          </a:p>
        </p:txBody>
      </p:sp>
      <p:sp>
        <p:nvSpPr>
          <p:cNvPr id="6" name="Text 4"/>
          <p:cNvSpPr txBox="1"/>
          <p:nvPr/>
        </p:nvSpPr>
        <p:spPr>
          <a:xfrm>
            <a:off x="1234440" y="1755648"/>
            <a:ext cx="4206240" cy="731520"/>
          </a:xfrm>
          <a:prstGeom prst="rect">
            <a:avLst/>
          </a:prstGeom>
          <a:noFill/>
          <a:ln/>
        </p:spPr>
        <p:txBody>
          <a:bodyPr wrap="square" lIns="0" tIns="0" rIns="0" bIns="0" rtlCol="0" anchor="t"/>
          <a:lstStyle/>
          <a:p>
            <a:pPr indent="0" marL="0">
              <a:buNone/>
            </a:pPr>
            <a:r>
              <a:rPr lang="en-US" sz="1500" dirty="0">
                <a:solidFill>
                  <a:schemeClr val="tx2"/>
                </a:solidFill>
              </a:rPr>
              <a:t>Every product has a SKU, supplier, warehouse location, unit price and a reorder level.</a:t>
            </a:r>
            <a:endParaRPr lang="en-US" sz="1500" dirty="0"/>
          </a:p>
        </p:txBody>
      </p:sp>
      <p:sp>
        <p:nvSpPr>
          <p:cNvPr id="7" name="Shape 5"/>
          <p:cNvSpPr/>
          <p:nvPr/>
        </p:nvSpPr>
        <p:spPr>
          <a:xfrm>
            <a:off x="548640" y="2697480"/>
            <a:ext cx="502920" cy="502920"/>
          </a:xfrm>
          <a:prstGeom prst="ellipse">
            <a:avLst/>
          </a:prstGeom>
          <a:solidFill>
            <a:schemeClr val="accent1"/>
          </a:solidFill>
          <a:ln w="6350">
            <a:solidFill>
              <a:schemeClr val="accent1"/>
            </a:solidFill>
            <a:prstDash val="solid"/>
          </a:ln>
        </p:spPr>
      </p:sp>
      <p:sp>
        <p:nvSpPr>
          <p:cNvPr id="8" name="Text 6"/>
          <p:cNvSpPr txBox="1"/>
          <p:nvPr/>
        </p:nvSpPr>
        <p:spPr>
          <a:xfrm>
            <a:off x="548640" y="2697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234440" y="2651760"/>
            <a:ext cx="4206240"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Audited stock movements</a:t>
            </a:r>
            <a:endParaRPr lang="en-US" sz="2000" dirty="0"/>
          </a:p>
        </p:txBody>
      </p:sp>
      <p:sp>
        <p:nvSpPr>
          <p:cNvPr id="10" name="Text 8"/>
          <p:cNvSpPr txBox="1"/>
          <p:nvPr/>
        </p:nvSpPr>
        <p:spPr>
          <a:xfrm>
            <a:off x="1234440" y="3081528"/>
            <a:ext cx="4206240" cy="1188720"/>
          </a:xfrm>
          <a:prstGeom prst="rect">
            <a:avLst/>
          </a:prstGeom>
          <a:noFill/>
          <a:ln/>
        </p:spPr>
        <p:txBody>
          <a:bodyPr wrap="square" lIns="0" tIns="0" rIns="0" bIns="0" rtlCol="0" anchor="t"/>
          <a:lstStyle/>
          <a:p>
            <a:pPr indent="0" marL="0">
              <a:buNone/>
            </a:pPr>
            <a:r>
              <a:rPr lang="en-US" sz="1500" dirty="0">
                <a:solidFill>
                  <a:schemeClr val="tx2"/>
                </a:solidFill>
              </a:rPr>
              <a:t>Stock only changes through movements: restock, sale, return, damaged or correction. Removing more than is on hand is rejected with HTTP 409.</a:t>
            </a:r>
            <a:endParaRPr lang="en-US" sz="1500" dirty="0"/>
          </a:p>
        </p:txBody>
      </p:sp>
      <p:sp>
        <p:nvSpPr>
          <p:cNvPr id="11" name="Shape 9"/>
          <p:cNvSpPr/>
          <p:nvPr/>
        </p:nvSpPr>
        <p:spPr>
          <a:xfrm>
            <a:off x="548640" y="4434840"/>
            <a:ext cx="502920" cy="502920"/>
          </a:xfrm>
          <a:prstGeom prst="ellipse">
            <a:avLst/>
          </a:prstGeom>
          <a:solidFill>
            <a:schemeClr val="accent1"/>
          </a:solidFill>
          <a:ln w="6350">
            <a:solidFill>
              <a:schemeClr val="accent1"/>
            </a:solidFill>
            <a:prstDash val="solid"/>
          </a:ln>
        </p:spPr>
      </p:sp>
      <p:sp>
        <p:nvSpPr>
          <p:cNvPr id="12" name="Text 10"/>
          <p:cNvSpPr txBox="1"/>
          <p:nvPr/>
        </p:nvSpPr>
        <p:spPr>
          <a:xfrm>
            <a:off x="548640" y="44348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234440" y="4389120"/>
            <a:ext cx="4206240"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Reorder insight</a:t>
            </a:r>
            <a:endParaRPr lang="en-US" sz="2000" dirty="0"/>
          </a:p>
        </p:txBody>
      </p:sp>
      <p:sp>
        <p:nvSpPr>
          <p:cNvPr id="14" name="Text 12"/>
          <p:cNvSpPr txBox="1"/>
          <p:nvPr/>
        </p:nvSpPr>
        <p:spPr>
          <a:xfrm>
            <a:off x="1234440" y="4818888"/>
            <a:ext cx="4206240" cy="960120"/>
          </a:xfrm>
          <a:prstGeom prst="rect">
            <a:avLst/>
          </a:prstGeom>
          <a:noFill/>
          <a:ln/>
        </p:spPr>
        <p:txBody>
          <a:bodyPr wrap="square" lIns="0" tIns="0" rIns="0" bIns="0" rtlCol="0" anchor="t"/>
          <a:lstStyle/>
          <a:p>
            <a:pPr indent="0" marL="0">
              <a:buNone/>
            </a:pPr>
            <a:r>
              <a:rPr lang="en-US" sz="1500" dirty="0">
                <a:solidFill>
                  <a:schemeClr val="tx2"/>
                </a:solidFill>
              </a:rPr>
              <a:t>Live KPIs for inventory value, low-stock and out-of-stock items, plus a 'reorder soon' list and a movement feed.</a:t>
            </a:r>
            <a:endParaRPr lang="en-US" sz="1500" dirty="0"/>
          </a:p>
        </p:txBody>
      </p:sp>
      <p:sp>
        <p:nvSpPr>
          <p:cNvPr id="15" name="frame 12-ingress-browser.png"/>
          <p:cNvSpPr/>
          <p:nvPr/>
        </p:nvSpPr>
        <p:spPr>
          <a:xfrm>
            <a:off x="5815584" y="1335024"/>
            <a:ext cx="5833872" cy="3542199"/>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16" name="12-ingress-browser.png" descr="12-ingress-browser.png">    </p:cNvPr>
          <p:cNvPicPr>
            <a:picLocks noChangeAspect="1"/>
          </p:cNvPicPr>
          <p:nvPr/>
        </p:nvPicPr>
        <p:blipFill>
          <a:blip r:embed="rId1"/>
          <a:stretch>
            <a:fillRect/>
          </a:stretch>
        </p:blipFill>
        <p:spPr>
          <a:xfrm>
            <a:off x="5852160" y="1371600"/>
            <a:ext cx="5760720" cy="3469047"/>
          </a:xfrm>
          <a:prstGeom prst="rect">
            <a:avLst/>
          </a:prstGeom>
        </p:spPr>
      </p:pic>
      <p:sp>
        <p:nvSpPr>
          <p:cNvPr id="17" name="Text 14"/>
          <p:cNvSpPr txBox="1"/>
          <p:nvPr/>
        </p:nvSpPr>
        <p:spPr>
          <a:xfrm>
            <a:off x="5852160" y="4977807"/>
            <a:ext cx="5760720" cy="274320"/>
          </a:xfrm>
          <a:prstGeom prst="rect">
            <a:avLst/>
          </a:prstGeom>
          <a:noFill/>
          <a:ln/>
        </p:spPr>
        <p:txBody>
          <a:bodyPr wrap="square" lIns="0" tIns="0" rIns="0" bIns="0" rtlCol="0" anchor="ctr"/>
          <a:lstStyle/>
          <a:p>
            <a:pPr algn="ctr" indent="0" marL="0">
              <a:buNone/>
            </a:pPr>
            <a:r>
              <a:rPr lang="en-US" sz="1100" i="1" dirty="0">
                <a:solidFill>
                  <a:schemeClr val="accent6"/>
                </a:solidFill>
              </a:rPr>
              <a:t>Running on AWS EKS behind the ingress-nginx load balancer</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Architecture: from git push to a monitored cluster</a:t>
            </a:r>
            <a:endParaRPr lang="en-US" sz="3000" dirty="0"/>
          </a:p>
        </p:txBody>
      </p:sp>
      <p:sp>
        <p:nvSpPr>
          <p:cNvPr id="3" name="Shape 1"/>
          <p:cNvSpPr/>
          <p:nvPr/>
        </p:nvSpPr>
        <p:spPr>
          <a:xfrm>
            <a:off x="822960" y="1280160"/>
            <a:ext cx="1417320" cy="868680"/>
          </a:xfrm>
          <a:prstGeom prst="roundRect">
            <a:avLst>
              <a:gd name="adj" fmla="val 6316"/>
            </a:avLst>
          </a:prstGeom>
          <a:solidFill>
            <a:schemeClr val="bg1"/>
          </a:solidFill>
          <a:ln w="15875">
            <a:solidFill>
              <a:schemeClr val="accent1"/>
            </a:solidFill>
            <a:prstDash val="solid"/>
          </a:ln>
        </p:spPr>
      </p:sp>
      <p:sp>
        <p:nvSpPr>
          <p:cNvPr id="4" name="Text 2"/>
          <p:cNvSpPr txBox="1"/>
          <p:nvPr/>
        </p:nvSpPr>
        <p:spPr>
          <a:xfrm>
            <a:off x="822960" y="1280160"/>
            <a:ext cx="141732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Developer</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git push</a:t>
            </a:r>
            <a:endParaRPr lang="en-US" sz="1300" dirty="0"/>
          </a:p>
        </p:txBody>
      </p:sp>
      <p:sp>
        <p:nvSpPr>
          <p:cNvPr id="5" name="Shape 3"/>
          <p:cNvSpPr/>
          <p:nvPr/>
        </p:nvSpPr>
        <p:spPr>
          <a:xfrm>
            <a:off x="2258568" y="1714500"/>
            <a:ext cx="164592" cy="914"/>
          </a:xfrm>
          <a:prstGeom prst="line">
            <a:avLst/>
          </a:prstGeom>
          <a:noFill/>
          <a:ln w="22225">
            <a:solidFill>
              <a:schemeClr val="accent1"/>
            </a:solidFill>
            <a:prstDash val="solid"/>
            <a:tailEnd type="triangle"/>
          </a:ln>
        </p:spPr>
      </p:sp>
      <p:sp>
        <p:nvSpPr>
          <p:cNvPr id="6" name="Shape 4"/>
          <p:cNvSpPr/>
          <p:nvPr/>
        </p:nvSpPr>
        <p:spPr>
          <a:xfrm>
            <a:off x="2441448" y="1280160"/>
            <a:ext cx="1417320" cy="868680"/>
          </a:xfrm>
          <a:prstGeom prst="roundRect">
            <a:avLst>
              <a:gd name="adj" fmla="val 6316"/>
            </a:avLst>
          </a:prstGeom>
          <a:solidFill>
            <a:schemeClr val="bg1"/>
          </a:solidFill>
          <a:ln w="15875">
            <a:solidFill>
              <a:schemeClr val="accent1"/>
            </a:solidFill>
            <a:prstDash val="solid"/>
          </a:ln>
        </p:spPr>
      </p:sp>
      <p:sp>
        <p:nvSpPr>
          <p:cNvPr id="7" name="Text 5"/>
          <p:cNvSpPr txBox="1"/>
          <p:nvPr/>
        </p:nvSpPr>
        <p:spPr>
          <a:xfrm>
            <a:off x="2441448" y="1280160"/>
            <a:ext cx="141732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GitHub</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main branch</a:t>
            </a:r>
            <a:endParaRPr lang="en-US" sz="1300" dirty="0"/>
          </a:p>
        </p:txBody>
      </p:sp>
      <p:sp>
        <p:nvSpPr>
          <p:cNvPr id="8" name="Shape 6"/>
          <p:cNvSpPr/>
          <p:nvPr/>
        </p:nvSpPr>
        <p:spPr>
          <a:xfrm>
            <a:off x="3877056" y="1714500"/>
            <a:ext cx="164592" cy="914"/>
          </a:xfrm>
          <a:prstGeom prst="line">
            <a:avLst/>
          </a:prstGeom>
          <a:noFill/>
          <a:ln w="22225">
            <a:solidFill>
              <a:schemeClr val="accent1"/>
            </a:solidFill>
            <a:prstDash val="solid"/>
            <a:tailEnd type="triangle"/>
          </a:ln>
        </p:spPr>
      </p:sp>
      <p:sp>
        <p:nvSpPr>
          <p:cNvPr id="9" name="Shape 7"/>
          <p:cNvSpPr/>
          <p:nvPr/>
        </p:nvSpPr>
        <p:spPr>
          <a:xfrm>
            <a:off x="4059936" y="1280160"/>
            <a:ext cx="1417320" cy="868680"/>
          </a:xfrm>
          <a:prstGeom prst="roundRect">
            <a:avLst>
              <a:gd name="adj" fmla="val 6316"/>
            </a:avLst>
          </a:prstGeom>
          <a:solidFill>
            <a:schemeClr val="bg1"/>
          </a:solidFill>
          <a:ln w="15875">
            <a:solidFill>
              <a:schemeClr val="accent1"/>
            </a:solidFill>
            <a:prstDash val="solid"/>
          </a:ln>
        </p:spPr>
      </p:sp>
      <p:sp>
        <p:nvSpPr>
          <p:cNvPr id="10" name="Text 8"/>
          <p:cNvSpPr txBox="1"/>
          <p:nvPr/>
        </p:nvSpPr>
        <p:spPr>
          <a:xfrm>
            <a:off x="4059936" y="1280160"/>
            <a:ext cx="141732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GitHub Actions</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pytest · build · Trivy</a:t>
            </a:r>
            <a:endParaRPr lang="en-US" sz="1300" dirty="0"/>
          </a:p>
        </p:txBody>
      </p:sp>
      <p:sp>
        <p:nvSpPr>
          <p:cNvPr id="11" name="Shape 9"/>
          <p:cNvSpPr/>
          <p:nvPr/>
        </p:nvSpPr>
        <p:spPr>
          <a:xfrm>
            <a:off x="5495544" y="1714500"/>
            <a:ext cx="164592" cy="914"/>
          </a:xfrm>
          <a:prstGeom prst="line">
            <a:avLst/>
          </a:prstGeom>
          <a:noFill/>
          <a:ln w="22225">
            <a:solidFill>
              <a:schemeClr val="accent1"/>
            </a:solidFill>
            <a:prstDash val="solid"/>
            <a:tailEnd type="triangle"/>
          </a:ln>
        </p:spPr>
      </p:sp>
      <p:sp>
        <p:nvSpPr>
          <p:cNvPr id="12" name="Shape 10"/>
          <p:cNvSpPr/>
          <p:nvPr/>
        </p:nvSpPr>
        <p:spPr>
          <a:xfrm>
            <a:off x="5678424" y="1280160"/>
            <a:ext cx="1417320" cy="868680"/>
          </a:xfrm>
          <a:prstGeom prst="roundRect">
            <a:avLst>
              <a:gd name="adj" fmla="val 6316"/>
            </a:avLst>
          </a:prstGeom>
          <a:solidFill>
            <a:schemeClr val="bg1"/>
          </a:solidFill>
          <a:ln w="15875">
            <a:solidFill>
              <a:schemeClr val="accent1"/>
            </a:solidFill>
            <a:prstDash val="solid"/>
          </a:ln>
        </p:spPr>
      </p:sp>
      <p:sp>
        <p:nvSpPr>
          <p:cNvPr id="13" name="Text 11"/>
          <p:cNvSpPr txBox="1"/>
          <p:nvPr/>
        </p:nvSpPr>
        <p:spPr>
          <a:xfrm>
            <a:off x="5678424" y="1280160"/>
            <a:ext cx="141732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GHCR</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images tagged :sha</a:t>
            </a:r>
            <a:endParaRPr lang="en-US" sz="1300" dirty="0"/>
          </a:p>
        </p:txBody>
      </p:sp>
      <p:sp>
        <p:nvSpPr>
          <p:cNvPr id="14" name="Shape 12"/>
          <p:cNvSpPr/>
          <p:nvPr/>
        </p:nvSpPr>
        <p:spPr>
          <a:xfrm>
            <a:off x="7114032" y="1714500"/>
            <a:ext cx="164592" cy="914"/>
          </a:xfrm>
          <a:prstGeom prst="line">
            <a:avLst/>
          </a:prstGeom>
          <a:noFill/>
          <a:ln w="22225">
            <a:solidFill>
              <a:schemeClr val="accent1"/>
            </a:solidFill>
            <a:prstDash val="solid"/>
            <a:tailEnd type="triangle"/>
          </a:ln>
        </p:spPr>
      </p:sp>
      <p:sp>
        <p:nvSpPr>
          <p:cNvPr id="15" name="Shape 13"/>
          <p:cNvSpPr/>
          <p:nvPr/>
        </p:nvSpPr>
        <p:spPr>
          <a:xfrm>
            <a:off x="7296912" y="1280160"/>
            <a:ext cx="1417320" cy="868680"/>
          </a:xfrm>
          <a:prstGeom prst="roundRect">
            <a:avLst>
              <a:gd name="adj" fmla="val 6316"/>
            </a:avLst>
          </a:prstGeom>
          <a:solidFill>
            <a:schemeClr val="bg1"/>
          </a:solidFill>
          <a:ln w="15875">
            <a:solidFill>
              <a:schemeClr val="accent1"/>
            </a:solidFill>
            <a:prstDash val="solid"/>
          </a:ln>
        </p:spPr>
      </p:sp>
      <p:sp>
        <p:nvSpPr>
          <p:cNvPr id="16" name="Text 14"/>
          <p:cNvSpPr txBox="1"/>
          <p:nvPr/>
        </p:nvSpPr>
        <p:spPr>
          <a:xfrm>
            <a:off x="7296912" y="1280160"/>
            <a:ext cx="141732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Helm</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upgrade --install</a:t>
            </a:r>
            <a:endParaRPr lang="en-US" sz="1300" dirty="0"/>
          </a:p>
        </p:txBody>
      </p:sp>
      <p:sp>
        <p:nvSpPr>
          <p:cNvPr id="17" name="Shape 15"/>
          <p:cNvSpPr/>
          <p:nvPr/>
        </p:nvSpPr>
        <p:spPr>
          <a:xfrm>
            <a:off x="9052560" y="1280160"/>
            <a:ext cx="2560320" cy="868680"/>
          </a:xfrm>
          <a:prstGeom prst="roundRect">
            <a:avLst>
              <a:gd name="adj" fmla="val 6316"/>
            </a:avLst>
          </a:prstGeom>
          <a:solidFill>
            <a:schemeClr val="bg1"/>
          </a:solidFill>
          <a:ln w="15875">
            <a:solidFill>
              <a:schemeClr val="accent5"/>
            </a:solidFill>
            <a:prstDash val="solid"/>
          </a:ln>
        </p:spPr>
      </p:sp>
      <p:sp>
        <p:nvSpPr>
          <p:cNvPr id="18" name="Text 16"/>
          <p:cNvSpPr txBox="1"/>
          <p:nvPr/>
        </p:nvSpPr>
        <p:spPr>
          <a:xfrm>
            <a:off x="9052560" y="1280160"/>
            <a:ext cx="256032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Terraform</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provisions VPC + EKS</a:t>
            </a:r>
            <a:endParaRPr lang="en-US" sz="1300" dirty="0"/>
          </a:p>
        </p:txBody>
      </p:sp>
      <p:sp>
        <p:nvSpPr>
          <p:cNvPr id="19" name="Shape 17"/>
          <p:cNvSpPr/>
          <p:nvPr/>
        </p:nvSpPr>
        <p:spPr>
          <a:xfrm>
            <a:off x="548640" y="2514600"/>
            <a:ext cx="11064240" cy="3703320"/>
          </a:xfrm>
          <a:prstGeom prst="roundRect">
            <a:avLst>
              <a:gd name="adj" fmla="val 1975"/>
            </a:avLst>
          </a:prstGeom>
          <a:solidFill>
            <a:schemeClr val="bg2"/>
          </a:solidFill>
          <a:ln w="12700">
            <a:solidFill>
              <a:srgbClr val="CBD5E1"/>
            </a:solidFill>
            <a:prstDash val="dash"/>
          </a:ln>
        </p:spPr>
      </p:sp>
      <p:sp>
        <p:nvSpPr>
          <p:cNvPr id="20" name="Text 18"/>
          <p:cNvSpPr txBox="1"/>
          <p:nvPr/>
        </p:nvSpPr>
        <p:spPr>
          <a:xfrm>
            <a:off x="731520" y="2578608"/>
            <a:ext cx="5486400" cy="320040"/>
          </a:xfrm>
          <a:prstGeom prst="rect">
            <a:avLst/>
          </a:prstGeom>
          <a:noFill/>
          <a:ln/>
        </p:spPr>
        <p:txBody>
          <a:bodyPr wrap="square" lIns="0" tIns="0" rIns="0" bIns="0" rtlCol="0" anchor="ctr"/>
          <a:lstStyle/>
          <a:p>
            <a:pPr indent="0" marL="0">
              <a:buNone/>
            </a:pPr>
            <a:r>
              <a:rPr lang="en-US" sz="1200" b="1" dirty="0">
                <a:solidFill>
                  <a:schemeClr val="accent6"/>
                </a:solidFill>
              </a:rPr>
              <a:t>AWS ap-southeast-2 · VPC 10.30.0.0/16</a:t>
            </a:r>
            <a:endParaRPr lang="en-US" sz="1200" dirty="0"/>
          </a:p>
        </p:txBody>
      </p:sp>
      <p:sp>
        <p:nvSpPr>
          <p:cNvPr id="21" name="Shape 19"/>
          <p:cNvSpPr/>
          <p:nvPr/>
        </p:nvSpPr>
        <p:spPr>
          <a:xfrm>
            <a:off x="777240" y="2971800"/>
            <a:ext cx="8001000" cy="3063240"/>
          </a:xfrm>
          <a:prstGeom prst="roundRect">
            <a:avLst>
              <a:gd name="adj" fmla="val 1791"/>
            </a:avLst>
          </a:prstGeom>
          <a:solidFill>
            <a:schemeClr val="bg1"/>
          </a:solidFill>
          <a:ln w="15875">
            <a:solidFill>
              <a:schemeClr val="accent1"/>
            </a:solidFill>
            <a:prstDash val="solid"/>
          </a:ln>
        </p:spPr>
      </p:sp>
      <p:sp>
        <p:nvSpPr>
          <p:cNvPr id="22" name="Text 20"/>
          <p:cNvSpPr txBox="1"/>
          <p:nvPr/>
        </p:nvSpPr>
        <p:spPr>
          <a:xfrm>
            <a:off x="960120" y="3017520"/>
            <a:ext cx="6400800" cy="320040"/>
          </a:xfrm>
          <a:prstGeom prst="rect">
            <a:avLst/>
          </a:prstGeom>
          <a:noFill/>
          <a:ln/>
        </p:spPr>
        <p:txBody>
          <a:bodyPr wrap="square" lIns="0" tIns="0" rIns="0" bIns="0" rtlCol="0" anchor="ctr"/>
          <a:lstStyle/>
          <a:p>
            <a:pPr indent="0" marL="0">
              <a:buNone/>
            </a:pPr>
            <a:r>
              <a:rPr lang="en-US" sz="1200" b="1" dirty="0">
                <a:solidFill>
                  <a:schemeClr val="accent1"/>
                </a:solidFill>
              </a:rPr>
              <a:t>EKS cluster · Kubernetes 1.34 · namespace stockpilot</a:t>
            </a:r>
            <a:endParaRPr lang="en-US" sz="1200" dirty="0"/>
          </a:p>
        </p:txBody>
      </p:sp>
      <p:sp>
        <p:nvSpPr>
          <p:cNvPr id="23" name="Shape 21"/>
          <p:cNvSpPr/>
          <p:nvPr/>
        </p:nvSpPr>
        <p:spPr>
          <a:xfrm>
            <a:off x="1005840" y="4069080"/>
            <a:ext cx="1783080" cy="960120"/>
          </a:xfrm>
          <a:prstGeom prst="roundRect">
            <a:avLst>
              <a:gd name="adj" fmla="val 5714"/>
            </a:avLst>
          </a:prstGeom>
          <a:solidFill>
            <a:schemeClr val="bg1"/>
          </a:solidFill>
          <a:ln w="15875">
            <a:solidFill>
              <a:schemeClr val="accent6"/>
            </a:solidFill>
            <a:prstDash val="solid"/>
          </a:ln>
        </p:spPr>
      </p:sp>
      <p:sp>
        <p:nvSpPr>
          <p:cNvPr id="24" name="Text 22"/>
          <p:cNvSpPr txBox="1"/>
          <p:nvPr/>
        </p:nvSpPr>
        <p:spPr>
          <a:xfrm>
            <a:off x="1005840" y="4069080"/>
            <a:ext cx="1783080" cy="96012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AWS NLB</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 ingress-nginx</a:t>
            </a:r>
            <a:endParaRPr lang="en-US" sz="1300" dirty="0"/>
          </a:p>
        </p:txBody>
      </p:sp>
      <p:sp>
        <p:nvSpPr>
          <p:cNvPr id="25" name="Shape 23"/>
          <p:cNvSpPr/>
          <p:nvPr/>
        </p:nvSpPr>
        <p:spPr>
          <a:xfrm>
            <a:off x="3246120" y="3474720"/>
            <a:ext cx="2011680" cy="868680"/>
          </a:xfrm>
          <a:prstGeom prst="roundRect">
            <a:avLst>
              <a:gd name="adj" fmla="val 6316"/>
            </a:avLst>
          </a:prstGeom>
          <a:solidFill>
            <a:schemeClr val="bg1"/>
          </a:solidFill>
          <a:ln w="15875">
            <a:solidFill>
              <a:schemeClr val="accent1"/>
            </a:solidFill>
            <a:prstDash val="solid"/>
          </a:ln>
        </p:spPr>
      </p:sp>
      <p:sp>
        <p:nvSpPr>
          <p:cNvPr id="26" name="Text 24"/>
          <p:cNvSpPr txBox="1"/>
          <p:nvPr/>
        </p:nvSpPr>
        <p:spPr>
          <a:xfrm>
            <a:off x="3246120" y="3474720"/>
            <a:ext cx="201168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Frontend</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React + nginx · 2 pods</a:t>
            </a:r>
            <a:endParaRPr lang="en-US" sz="1300" dirty="0"/>
          </a:p>
        </p:txBody>
      </p:sp>
      <p:sp>
        <p:nvSpPr>
          <p:cNvPr id="27" name="Shape 25"/>
          <p:cNvSpPr/>
          <p:nvPr/>
        </p:nvSpPr>
        <p:spPr>
          <a:xfrm>
            <a:off x="3246120" y="4754880"/>
            <a:ext cx="2011680" cy="868680"/>
          </a:xfrm>
          <a:prstGeom prst="roundRect">
            <a:avLst>
              <a:gd name="adj" fmla="val 6316"/>
            </a:avLst>
          </a:prstGeom>
          <a:solidFill>
            <a:schemeClr val="bg1"/>
          </a:solidFill>
          <a:ln w="15875">
            <a:solidFill>
              <a:schemeClr val="accent1"/>
            </a:solidFill>
            <a:prstDash val="solid"/>
          </a:ln>
        </p:spPr>
      </p:sp>
      <p:sp>
        <p:nvSpPr>
          <p:cNvPr id="28" name="Text 26"/>
          <p:cNvSpPr txBox="1"/>
          <p:nvPr/>
        </p:nvSpPr>
        <p:spPr>
          <a:xfrm>
            <a:off x="3246120" y="4754880"/>
            <a:ext cx="201168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Backend</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FastAPI · 2–6 pods (HPA)</a:t>
            </a:r>
            <a:endParaRPr lang="en-US" sz="1300" dirty="0"/>
          </a:p>
        </p:txBody>
      </p:sp>
      <p:sp>
        <p:nvSpPr>
          <p:cNvPr id="29" name="Shape 27"/>
          <p:cNvSpPr/>
          <p:nvPr/>
        </p:nvSpPr>
        <p:spPr>
          <a:xfrm>
            <a:off x="5806440" y="4754880"/>
            <a:ext cx="2697480" cy="868680"/>
          </a:xfrm>
          <a:prstGeom prst="roundRect">
            <a:avLst>
              <a:gd name="adj" fmla="val 6316"/>
            </a:avLst>
          </a:prstGeom>
          <a:solidFill>
            <a:schemeClr val="bg1"/>
          </a:solidFill>
          <a:ln w="15875">
            <a:solidFill>
              <a:schemeClr val="accent3"/>
            </a:solidFill>
            <a:prstDash val="solid"/>
          </a:ln>
        </p:spPr>
      </p:sp>
      <p:sp>
        <p:nvSpPr>
          <p:cNvPr id="30" name="Text 28"/>
          <p:cNvSpPr txBox="1"/>
          <p:nvPr/>
        </p:nvSpPr>
        <p:spPr>
          <a:xfrm>
            <a:off x="5806440" y="4754880"/>
            <a:ext cx="269748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PostgreSQL 16</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StatefulSet · 10 GiB gp3 EBS</a:t>
            </a:r>
            <a:endParaRPr lang="en-US" sz="1300" dirty="0"/>
          </a:p>
        </p:txBody>
      </p:sp>
      <p:sp>
        <p:nvSpPr>
          <p:cNvPr id="31" name="Shape 29"/>
          <p:cNvSpPr/>
          <p:nvPr/>
        </p:nvSpPr>
        <p:spPr>
          <a:xfrm>
            <a:off x="5806440" y="3474720"/>
            <a:ext cx="2697480" cy="868680"/>
          </a:xfrm>
          <a:prstGeom prst="roundRect">
            <a:avLst>
              <a:gd name="adj" fmla="val 6316"/>
            </a:avLst>
          </a:prstGeom>
          <a:solidFill>
            <a:schemeClr val="bg1"/>
          </a:solidFill>
          <a:ln w="15875">
            <a:solidFill>
              <a:schemeClr val="accent2"/>
            </a:solidFill>
            <a:prstDash val="solid"/>
          </a:ln>
        </p:spPr>
      </p:sp>
      <p:sp>
        <p:nvSpPr>
          <p:cNvPr id="32" name="Text 30"/>
          <p:cNvSpPr txBox="1"/>
          <p:nvPr/>
        </p:nvSpPr>
        <p:spPr>
          <a:xfrm>
            <a:off x="5806440" y="3474720"/>
            <a:ext cx="269748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Prometheus → Grafana</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ServiceMonitor scrapes /metrics</a:t>
            </a:r>
            <a:endParaRPr lang="en-US" sz="1300" dirty="0"/>
          </a:p>
        </p:txBody>
      </p:sp>
      <p:sp>
        <p:nvSpPr>
          <p:cNvPr id="33" name="Shape 31"/>
          <p:cNvSpPr/>
          <p:nvPr/>
        </p:nvSpPr>
        <p:spPr>
          <a:xfrm flipV="1">
            <a:off x="2788920" y="3977640"/>
            <a:ext cx="438912" cy="411480"/>
          </a:xfrm>
          <a:prstGeom prst="line">
            <a:avLst/>
          </a:prstGeom>
          <a:noFill/>
          <a:ln w="22225">
            <a:solidFill>
              <a:schemeClr val="accent6"/>
            </a:solidFill>
            <a:prstDash val="solid"/>
            <a:tailEnd type="triangle"/>
          </a:ln>
        </p:spPr>
      </p:sp>
      <p:sp>
        <p:nvSpPr>
          <p:cNvPr id="34" name="Shape 32"/>
          <p:cNvSpPr/>
          <p:nvPr/>
        </p:nvSpPr>
        <p:spPr>
          <a:xfrm>
            <a:off x="2788920" y="4709160"/>
            <a:ext cx="438912" cy="411480"/>
          </a:xfrm>
          <a:prstGeom prst="line">
            <a:avLst/>
          </a:prstGeom>
          <a:noFill/>
          <a:ln w="22225">
            <a:solidFill>
              <a:schemeClr val="accent6"/>
            </a:solidFill>
            <a:prstDash val="solid"/>
            <a:tailEnd type="triangle"/>
          </a:ln>
        </p:spPr>
      </p:sp>
      <p:sp>
        <p:nvSpPr>
          <p:cNvPr id="35" name="Text 33"/>
          <p:cNvSpPr txBox="1"/>
          <p:nvPr/>
        </p:nvSpPr>
        <p:spPr>
          <a:xfrm>
            <a:off x="2852928" y="3840480"/>
            <a:ext cx="274320" cy="228600"/>
          </a:xfrm>
          <a:prstGeom prst="rect">
            <a:avLst/>
          </a:prstGeom>
          <a:noFill/>
          <a:ln/>
        </p:spPr>
        <p:txBody>
          <a:bodyPr wrap="square" lIns="0" tIns="0" rIns="0" bIns="0" rtlCol="0" anchor="ctr"/>
          <a:lstStyle/>
          <a:p>
            <a:pPr indent="0" marL="0">
              <a:buNone/>
            </a:pPr>
            <a:r>
              <a:rPr lang="en-US" sz="1100" dirty="0">
                <a:solidFill>
                  <a:schemeClr val="accent6"/>
                </a:solidFill>
              </a:rPr>
              <a:t>/</a:t>
            </a:r>
            <a:endParaRPr lang="en-US" sz="1100" dirty="0"/>
          </a:p>
        </p:txBody>
      </p:sp>
      <p:sp>
        <p:nvSpPr>
          <p:cNvPr id="36" name="Text 34"/>
          <p:cNvSpPr txBox="1"/>
          <p:nvPr/>
        </p:nvSpPr>
        <p:spPr>
          <a:xfrm>
            <a:off x="2743200" y="5029200"/>
            <a:ext cx="457200" cy="228600"/>
          </a:xfrm>
          <a:prstGeom prst="rect">
            <a:avLst/>
          </a:prstGeom>
          <a:noFill/>
          <a:ln/>
        </p:spPr>
        <p:txBody>
          <a:bodyPr wrap="square" lIns="0" tIns="0" rIns="0" bIns="0" rtlCol="0" anchor="ctr"/>
          <a:lstStyle/>
          <a:p>
            <a:pPr indent="0" marL="0">
              <a:buNone/>
            </a:pPr>
            <a:r>
              <a:rPr lang="en-US" sz="1100" dirty="0">
                <a:solidFill>
                  <a:schemeClr val="accent6"/>
                </a:solidFill>
              </a:rPr>
              <a:t>/api</a:t>
            </a:r>
            <a:endParaRPr lang="en-US" sz="1100" dirty="0"/>
          </a:p>
        </p:txBody>
      </p:sp>
      <p:sp>
        <p:nvSpPr>
          <p:cNvPr id="37" name="Shape 35"/>
          <p:cNvSpPr/>
          <p:nvPr/>
        </p:nvSpPr>
        <p:spPr>
          <a:xfrm>
            <a:off x="5276088" y="5184648"/>
            <a:ext cx="512064" cy="914"/>
          </a:xfrm>
          <a:prstGeom prst="line">
            <a:avLst/>
          </a:prstGeom>
          <a:noFill/>
          <a:ln w="22225">
            <a:solidFill>
              <a:schemeClr val="accent3"/>
            </a:solidFill>
            <a:prstDash val="solid"/>
            <a:tailEnd type="triangle"/>
          </a:ln>
        </p:spPr>
      </p:sp>
      <p:sp>
        <p:nvSpPr>
          <p:cNvPr id="38" name="Shape 36"/>
          <p:cNvSpPr/>
          <p:nvPr/>
        </p:nvSpPr>
        <p:spPr>
          <a:xfrm flipH="1">
            <a:off x="5276088" y="4361688"/>
            <a:ext cx="1033272" cy="530352"/>
          </a:xfrm>
          <a:prstGeom prst="line">
            <a:avLst/>
          </a:prstGeom>
          <a:noFill/>
          <a:ln w="22225">
            <a:solidFill>
              <a:schemeClr val="accent2"/>
            </a:solidFill>
            <a:prstDash val="solid"/>
            <a:tailEnd type="triangle"/>
          </a:ln>
        </p:spPr>
      </p:sp>
      <p:sp>
        <p:nvSpPr>
          <p:cNvPr id="39" name="Shape 37"/>
          <p:cNvSpPr/>
          <p:nvPr/>
        </p:nvSpPr>
        <p:spPr>
          <a:xfrm>
            <a:off x="8005572" y="2167128"/>
            <a:ext cx="914" cy="786384"/>
          </a:xfrm>
          <a:prstGeom prst="line">
            <a:avLst/>
          </a:prstGeom>
          <a:noFill/>
          <a:ln w="22225">
            <a:solidFill>
              <a:schemeClr val="accent1"/>
            </a:solidFill>
            <a:prstDash val="solid"/>
            <a:tailEnd type="triangle"/>
          </a:ln>
        </p:spPr>
      </p:sp>
      <p:sp>
        <p:nvSpPr>
          <p:cNvPr id="40" name="Shape 38"/>
          <p:cNvSpPr/>
          <p:nvPr/>
        </p:nvSpPr>
        <p:spPr>
          <a:xfrm>
            <a:off x="9052560" y="2971800"/>
            <a:ext cx="2331720" cy="914400"/>
          </a:xfrm>
          <a:prstGeom prst="roundRect">
            <a:avLst>
              <a:gd name="adj" fmla="val 6000"/>
            </a:avLst>
          </a:prstGeom>
          <a:solidFill>
            <a:schemeClr val="bg1"/>
          </a:solidFill>
          <a:ln w="15875">
            <a:solidFill>
              <a:schemeClr val="accent5"/>
            </a:solidFill>
            <a:prstDash val="solid"/>
          </a:ln>
        </p:spPr>
      </p:sp>
      <p:sp>
        <p:nvSpPr>
          <p:cNvPr id="41" name="Text 39"/>
          <p:cNvSpPr txBox="1"/>
          <p:nvPr/>
        </p:nvSpPr>
        <p:spPr>
          <a:xfrm>
            <a:off x="9052560" y="2971800"/>
            <a:ext cx="2331720" cy="91440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2 public subnets</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load balancers · NAT gateway</a:t>
            </a:r>
            <a:endParaRPr lang="en-US" sz="1300" dirty="0"/>
          </a:p>
        </p:txBody>
      </p:sp>
      <p:sp>
        <p:nvSpPr>
          <p:cNvPr id="42" name="Shape 40"/>
          <p:cNvSpPr/>
          <p:nvPr/>
        </p:nvSpPr>
        <p:spPr>
          <a:xfrm>
            <a:off x="9052560" y="4069080"/>
            <a:ext cx="2331720" cy="914400"/>
          </a:xfrm>
          <a:prstGeom prst="roundRect">
            <a:avLst>
              <a:gd name="adj" fmla="val 6000"/>
            </a:avLst>
          </a:prstGeom>
          <a:solidFill>
            <a:schemeClr val="bg1"/>
          </a:solidFill>
          <a:ln w="15875">
            <a:solidFill>
              <a:schemeClr val="accent5"/>
            </a:solidFill>
            <a:prstDash val="solid"/>
          </a:ln>
        </p:spPr>
      </p:sp>
      <p:sp>
        <p:nvSpPr>
          <p:cNvPr id="43" name="Text 41"/>
          <p:cNvSpPr txBox="1"/>
          <p:nvPr/>
        </p:nvSpPr>
        <p:spPr>
          <a:xfrm>
            <a:off x="9052560" y="4069080"/>
            <a:ext cx="2331720" cy="91440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2 private subnets</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worker nodes, 2 AZs</a:t>
            </a:r>
            <a:endParaRPr lang="en-US" sz="1300" dirty="0"/>
          </a:p>
        </p:txBody>
      </p:sp>
      <p:sp>
        <p:nvSpPr>
          <p:cNvPr id="44" name="Shape 42"/>
          <p:cNvSpPr/>
          <p:nvPr/>
        </p:nvSpPr>
        <p:spPr>
          <a:xfrm>
            <a:off x="9052560" y="5166360"/>
            <a:ext cx="2331720" cy="868680"/>
          </a:xfrm>
          <a:prstGeom prst="roundRect">
            <a:avLst>
              <a:gd name="adj" fmla="val 6316"/>
            </a:avLst>
          </a:prstGeom>
          <a:solidFill>
            <a:schemeClr val="bg1"/>
          </a:solidFill>
          <a:ln w="15875">
            <a:solidFill>
              <a:schemeClr val="accent5"/>
            </a:solidFill>
            <a:prstDash val="solid"/>
          </a:ln>
        </p:spPr>
      </p:sp>
      <p:sp>
        <p:nvSpPr>
          <p:cNvPr id="45" name="Text 43"/>
          <p:cNvSpPr txBox="1"/>
          <p:nvPr/>
        </p:nvSpPr>
        <p:spPr>
          <a:xfrm>
            <a:off x="9052560" y="5166360"/>
            <a:ext cx="2331720" cy="868680"/>
          </a:xfrm>
          <a:prstGeom prst="rect">
            <a:avLst/>
          </a:prstGeom>
          <a:no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Node group</a:t>
            </a:r>
            <a:endParaRPr lang="en-US" sz="1300" dirty="0"/>
          </a:p>
          <a:p>
            <a:pPr algn="ctr" indent="0" marL="0">
              <a:buNone/>
            </a:pPr>
            <a:r>
              <a:rPr lang="en-US" sz="1050" dirty="0">
                <a:solidFill>
                  <a:schemeClr val="accent6"/>
                </a:solidFill>
                <a:latin typeface="Calibri" pitchFamily="34" charset="0"/>
                <a:ea typeface="Calibri" pitchFamily="34" charset="-122"/>
                <a:cs typeface="Calibri" pitchFamily="34" charset="-120"/>
              </a:rPr>
              <a:t>2× c7i-flex.large</a:t>
            </a:r>
            <a:endParaRPr lang="en-US" sz="1300" dirty="0"/>
          </a:p>
        </p:txBody>
      </p:sp>
      <p:sp>
        <p:nvSpPr>
          <p:cNvPr id="46" name="Shape 44"/>
          <p:cNvSpPr/>
          <p:nvPr/>
        </p:nvSpPr>
        <p:spPr>
          <a:xfrm>
            <a:off x="10332720" y="2167128"/>
            <a:ext cx="914" cy="786384"/>
          </a:xfrm>
          <a:prstGeom prst="line">
            <a:avLst/>
          </a:prstGeom>
          <a:noFill/>
          <a:ln w="22225">
            <a:solidFill>
              <a:schemeClr val="accent5"/>
            </a:solidFill>
            <a:prstDash val="solid"/>
            <a:tailEnd type="triangle"/>
          </a:ln>
        </p:spPr>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Application layer</a:t>
            </a:r>
            <a:endParaRPr lang="en-US" sz="3000" dirty="0"/>
          </a:p>
        </p:txBody>
      </p:sp>
      <p:sp>
        <p:nvSpPr>
          <p:cNvPr id="3" name="Shape 1"/>
          <p:cNvSpPr/>
          <p:nvPr/>
        </p:nvSpPr>
        <p:spPr>
          <a:xfrm>
            <a:off x="548640" y="1325880"/>
            <a:ext cx="3474720" cy="1874520"/>
          </a:xfrm>
          <a:prstGeom prst="roundRect">
            <a:avLst>
              <a:gd name="adj" fmla="val 3902"/>
            </a:avLst>
          </a:prstGeom>
          <a:solidFill>
            <a:schemeClr val="bg2"/>
          </a:solidFill>
          <a:ln w="6350">
            <a:solidFill>
              <a:schemeClr val="bg2"/>
            </a:solidFill>
            <a:prstDash val="solid"/>
          </a:ln>
        </p:spPr>
      </p:sp>
      <p:sp>
        <p:nvSpPr>
          <p:cNvPr id="4" name="Text 2"/>
          <p:cNvSpPr txBox="1"/>
          <p:nvPr/>
        </p:nvSpPr>
        <p:spPr>
          <a:xfrm>
            <a:off x="822960" y="1417320"/>
            <a:ext cx="3017520" cy="86868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11</a:t>
            </a:r>
            <a:endParaRPr lang="en-US" sz="4800" dirty="0"/>
          </a:p>
        </p:txBody>
      </p:sp>
      <p:sp>
        <p:nvSpPr>
          <p:cNvPr id="5" name="Text 3"/>
          <p:cNvSpPr txBox="1"/>
          <p:nvPr/>
        </p:nvSpPr>
        <p:spPr>
          <a:xfrm>
            <a:off x="822960" y="2313432"/>
            <a:ext cx="3017520" cy="548640"/>
          </a:xfrm>
          <a:prstGeom prst="rect">
            <a:avLst/>
          </a:prstGeom>
          <a:noFill/>
          <a:ln/>
        </p:spPr>
        <p:txBody>
          <a:bodyPr wrap="square" lIns="0" tIns="0" rIns="0" bIns="0" rtlCol="0" anchor="t"/>
          <a:lstStyle/>
          <a:p>
            <a:pPr indent="0" marL="0">
              <a:buNone/>
            </a:pPr>
            <a:r>
              <a:rPr lang="en-US" sz="1400" dirty="0">
                <a:solidFill>
                  <a:schemeClr val="tx2"/>
                </a:solidFill>
              </a:rPr>
              <a:t>REST endpoints, including /health, /ready and /metrics</a:t>
            </a:r>
            <a:endParaRPr lang="en-US" sz="1400" dirty="0"/>
          </a:p>
        </p:txBody>
      </p:sp>
      <p:sp>
        <p:nvSpPr>
          <p:cNvPr id="6" name="Shape 4"/>
          <p:cNvSpPr/>
          <p:nvPr/>
        </p:nvSpPr>
        <p:spPr>
          <a:xfrm>
            <a:off x="4297680" y="1325880"/>
            <a:ext cx="3474720" cy="1874520"/>
          </a:xfrm>
          <a:prstGeom prst="roundRect">
            <a:avLst>
              <a:gd name="adj" fmla="val 3902"/>
            </a:avLst>
          </a:prstGeom>
          <a:solidFill>
            <a:schemeClr val="bg2"/>
          </a:solidFill>
          <a:ln w="6350">
            <a:solidFill>
              <a:schemeClr val="bg2"/>
            </a:solidFill>
            <a:prstDash val="solid"/>
          </a:ln>
        </p:spPr>
      </p:sp>
      <p:sp>
        <p:nvSpPr>
          <p:cNvPr id="7" name="Text 5"/>
          <p:cNvSpPr txBox="1"/>
          <p:nvPr/>
        </p:nvSpPr>
        <p:spPr>
          <a:xfrm>
            <a:off x="4572000" y="1417320"/>
            <a:ext cx="3017520" cy="868680"/>
          </a:xfrm>
          <a:prstGeom prst="rect">
            <a:avLst/>
          </a:prstGeom>
          <a:noFill/>
          <a:ln/>
        </p:spPr>
        <p:txBody>
          <a:bodyPr wrap="square" lIns="0" tIns="0" rIns="0" bIns="0" rtlCol="0" anchor="b"/>
          <a:lstStyle/>
          <a:p>
            <a:pPr indent="0" marL="0">
              <a:buNone/>
            </a:pPr>
            <a:r>
              <a:rPr lang="en-US" sz="4800" b="1" dirty="0">
                <a:solidFill>
                  <a:schemeClr val="accent5"/>
                </a:solidFill>
                <a:latin typeface="Arial" pitchFamily="34" charset="0"/>
                <a:ea typeface="Arial" pitchFamily="34" charset="-122"/>
                <a:cs typeface="Arial" pitchFamily="34" charset="-120"/>
              </a:rPr>
              <a:t>2</a:t>
            </a:r>
            <a:endParaRPr lang="en-US" sz="4800" dirty="0"/>
          </a:p>
        </p:txBody>
      </p:sp>
      <p:sp>
        <p:nvSpPr>
          <p:cNvPr id="8" name="Text 6"/>
          <p:cNvSpPr txBox="1"/>
          <p:nvPr/>
        </p:nvSpPr>
        <p:spPr>
          <a:xfrm>
            <a:off x="4572000" y="2313432"/>
            <a:ext cx="3017520" cy="548640"/>
          </a:xfrm>
          <a:prstGeom prst="rect">
            <a:avLst/>
          </a:prstGeom>
          <a:noFill/>
          <a:ln/>
        </p:spPr>
        <p:txBody>
          <a:bodyPr wrap="square" lIns="0" tIns="0" rIns="0" bIns="0" rtlCol="0" anchor="t"/>
          <a:lstStyle/>
          <a:p>
            <a:pPr indent="0" marL="0">
              <a:buNone/>
            </a:pPr>
            <a:r>
              <a:rPr lang="en-US" sz="1400" dirty="0">
                <a:solidFill>
                  <a:schemeClr val="tx2"/>
                </a:solidFill>
              </a:rPr>
              <a:t>tables (products, stock_movements) managed by 3 Alembic migrations</a:t>
            </a:r>
            <a:endParaRPr lang="en-US" sz="1400" dirty="0"/>
          </a:p>
        </p:txBody>
      </p:sp>
      <p:sp>
        <p:nvSpPr>
          <p:cNvPr id="9" name="Shape 7"/>
          <p:cNvSpPr/>
          <p:nvPr/>
        </p:nvSpPr>
        <p:spPr>
          <a:xfrm>
            <a:off x="8046720" y="1325880"/>
            <a:ext cx="3474720" cy="1874520"/>
          </a:xfrm>
          <a:prstGeom prst="roundRect">
            <a:avLst>
              <a:gd name="adj" fmla="val 3902"/>
            </a:avLst>
          </a:prstGeom>
          <a:solidFill>
            <a:schemeClr val="bg2"/>
          </a:solidFill>
          <a:ln w="6350">
            <a:solidFill>
              <a:schemeClr val="bg2"/>
            </a:solidFill>
            <a:prstDash val="solid"/>
          </a:ln>
        </p:spPr>
      </p:sp>
      <p:sp>
        <p:nvSpPr>
          <p:cNvPr id="10" name="Text 8"/>
          <p:cNvSpPr txBox="1"/>
          <p:nvPr/>
        </p:nvSpPr>
        <p:spPr>
          <a:xfrm>
            <a:off x="8321040" y="1417320"/>
            <a:ext cx="3017520" cy="868680"/>
          </a:xfrm>
          <a:prstGeom prst="rect">
            <a:avLst/>
          </a:prstGeom>
          <a:noFill/>
          <a:ln/>
        </p:spPr>
        <p:txBody>
          <a:bodyPr wrap="square" lIns="0" tIns="0" rIns="0" bIns="0" rtlCol="0" anchor="b"/>
          <a:lstStyle/>
          <a:p>
            <a:pPr indent="0" marL="0">
              <a:buNone/>
            </a:pPr>
            <a:r>
              <a:rPr lang="en-US" sz="4800" b="1" dirty="0">
                <a:solidFill>
                  <a:schemeClr val="accent3"/>
                </a:solidFill>
                <a:latin typeface="Arial" pitchFamily="34" charset="0"/>
                <a:ea typeface="Arial" pitchFamily="34" charset="-122"/>
                <a:cs typeface="Arial" pitchFamily="34" charset="-120"/>
              </a:rPr>
              <a:t>15</a:t>
            </a:r>
            <a:endParaRPr lang="en-US" sz="4800" dirty="0"/>
          </a:p>
        </p:txBody>
      </p:sp>
      <p:sp>
        <p:nvSpPr>
          <p:cNvPr id="11" name="Text 9"/>
          <p:cNvSpPr txBox="1"/>
          <p:nvPr/>
        </p:nvSpPr>
        <p:spPr>
          <a:xfrm>
            <a:off x="8321040" y="2313432"/>
            <a:ext cx="3017520" cy="548640"/>
          </a:xfrm>
          <a:prstGeom prst="rect">
            <a:avLst/>
          </a:prstGeom>
          <a:noFill/>
          <a:ln/>
        </p:spPr>
        <p:txBody>
          <a:bodyPr wrap="square" lIns="0" tIns="0" rIns="0" bIns="0" rtlCol="0" anchor="t"/>
          <a:lstStyle/>
          <a:p>
            <a:pPr indent="0" marL="0">
              <a:buNone/>
            </a:pPr>
            <a:r>
              <a:rPr lang="en-US" sz="1400" dirty="0">
                <a:solidFill>
                  <a:schemeClr val="tx2"/>
                </a:solidFill>
              </a:rPr>
              <a:t>pytest tests on an isolated in-memory SQLite database</a:t>
            </a:r>
            <a:endParaRPr lang="en-US" sz="1400" dirty="0"/>
          </a:p>
        </p:txBody>
      </p:sp>
      <p:sp>
        <p:nvSpPr>
          <p:cNvPr id="12" name="Text 10"/>
          <p:cNvSpPr txBox="1"/>
          <p:nvPr/>
        </p:nvSpPr>
        <p:spPr>
          <a:xfrm>
            <a:off x="548640" y="3520440"/>
            <a:ext cx="365760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Stack</a:t>
            </a:r>
            <a:endParaRPr lang="en-US" sz="1800" dirty="0"/>
          </a:p>
        </p:txBody>
      </p:sp>
      <p:sp>
        <p:nvSpPr>
          <p:cNvPr id="13" name="Text 11"/>
          <p:cNvSpPr txBox="1"/>
          <p:nvPr/>
        </p:nvSpPr>
        <p:spPr>
          <a:xfrm>
            <a:off x="548640" y="3931920"/>
            <a:ext cx="4937760" cy="2194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FastAPI + Pydantic, SQLAlchemy 2, Alembic</a:t>
            </a:r>
            <a:endParaRPr lang="en-US" sz="1500" dirty="0"/>
          </a:p>
          <a:p>
            <a:pPr marL="203200" indent="-203200">
              <a:spcAft>
                <a:spcPts val="800"/>
              </a:spcAft>
              <a:buSzPct val="100000"/>
              <a:buChar char="•"/>
            </a:pPr>
            <a:r>
              <a:rPr lang="en-US" sz="1500" dirty="0">
                <a:solidFill>
                  <a:schemeClr val="tx1"/>
                </a:solidFill>
              </a:rPr>
              <a:t>PostgreSQL 16</a:t>
            </a:r>
            <a:endParaRPr lang="en-US" sz="1500" dirty="0"/>
          </a:p>
          <a:p>
            <a:pPr marL="203200" indent="-203200">
              <a:spcAft>
                <a:spcPts val="800"/>
              </a:spcAft>
              <a:buSzPct val="100000"/>
              <a:buChar char="•"/>
            </a:pPr>
            <a:r>
              <a:rPr lang="en-US" sz="1500" dirty="0">
                <a:solidFill>
                  <a:schemeClr val="tx1"/>
                </a:solidFill>
              </a:rPr>
              <a:t>React 19 + Vite, responsive CSS with dark mode</a:t>
            </a:r>
            <a:endParaRPr lang="en-US" sz="1500" dirty="0"/>
          </a:p>
          <a:p>
            <a:pPr marL="203200" indent="-203200">
              <a:spcAft>
                <a:spcPts val="800"/>
              </a:spcAft>
              <a:buSzPct val="100000"/>
              <a:buChar char="•"/>
            </a:pPr>
            <a:r>
              <a:rPr lang="en-US" sz="1500" dirty="0">
                <a:solidFill>
                  <a:schemeClr val="tx1"/>
                </a:solidFill>
              </a:rPr>
              <a:t>Both images run as non-root users</a:t>
            </a:r>
            <a:endParaRPr lang="en-US" sz="1500" dirty="0"/>
          </a:p>
        </p:txBody>
      </p:sp>
      <p:sp>
        <p:nvSpPr>
          <p:cNvPr id="14" name="Text 12"/>
          <p:cNvSpPr txBox="1"/>
          <p:nvPr/>
        </p:nvSpPr>
        <p:spPr>
          <a:xfrm>
            <a:off x="5943600" y="3520440"/>
            <a:ext cx="365760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API</a:t>
            </a:r>
            <a:endParaRPr lang="en-US" sz="1800" dirty="0"/>
          </a:p>
        </p:txBody>
      </p:sp>
      <p:sp>
        <p:nvSpPr>
          <p:cNvPr id="15" name="Shape 13"/>
          <p:cNvSpPr/>
          <p:nvPr/>
        </p:nvSpPr>
        <p:spPr>
          <a:xfrm>
            <a:off x="5943600" y="3931920"/>
            <a:ext cx="5669280" cy="2240280"/>
          </a:xfrm>
          <a:prstGeom prst="roundRect">
            <a:avLst>
              <a:gd name="adj" fmla="val 3265"/>
            </a:avLst>
          </a:prstGeom>
          <a:solidFill>
            <a:schemeClr val="bg2"/>
          </a:solidFill>
          <a:ln w="6350">
            <a:solidFill>
              <a:schemeClr val="bg2"/>
            </a:solidFill>
            <a:prstDash val="solid"/>
          </a:ln>
        </p:spPr>
      </p:sp>
      <p:sp>
        <p:nvSpPr>
          <p:cNvPr id="16" name="Text 14"/>
          <p:cNvSpPr txBox="1"/>
          <p:nvPr/>
        </p:nvSpPr>
        <p:spPr>
          <a:xfrm>
            <a:off x="6126480" y="4005072"/>
            <a:ext cx="5394960" cy="210312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GET    /health · /ready · /metrics</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GET    /api/products?search=&amp;stock_status=</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GET    /api/products/stats</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GET    /api/products/{id}</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POST   /api/products</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PUT    /api/products/{id}</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DELETE /api/products/{id}</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POST   /api/products/{id}/adjust</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GET    /api/movements</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CI/CD: every push is tested, scanned and traceable</a:t>
            </a:r>
            <a:endParaRPr lang="en-US" sz="3000" dirty="0"/>
          </a:p>
        </p:txBody>
      </p:sp>
      <p:sp>
        <p:nvSpPr>
          <p:cNvPr id="3" name="Shape 1"/>
          <p:cNvSpPr/>
          <p:nvPr/>
        </p:nvSpPr>
        <p:spPr>
          <a:xfrm>
            <a:off x="548640" y="1280160"/>
            <a:ext cx="2240280" cy="868680"/>
          </a:xfrm>
          <a:prstGeom prst="homePlate">
            <a:avLst/>
          </a:prstGeom>
          <a:solidFill>
            <a:schemeClr val="accent1"/>
          </a:solidFill>
          <a:ln w="19050">
            <a:solidFill>
              <a:schemeClr val="bg1"/>
            </a:solidFill>
            <a:prstDash val="solid"/>
          </a:ln>
        </p:spPr>
      </p:sp>
      <p:sp>
        <p:nvSpPr>
          <p:cNvPr id="4" name="Text 2"/>
          <p:cNvSpPr txBox="1"/>
          <p:nvPr/>
        </p:nvSpPr>
        <p:spPr>
          <a:xfrm>
            <a:off x="822960" y="1280160"/>
            <a:ext cx="1737360" cy="868680"/>
          </a:xfrm>
          <a:prstGeom prst="rect">
            <a:avLst/>
          </a:prstGeom>
          <a:noFill/>
          <a:ln/>
        </p:spPr>
        <p:txBody>
          <a:bodyPr wrap="square" lIns="0" tIns="0" rIns="0" bIns="0" rtlCol="0" anchor="ctr"/>
          <a:lstStyle/>
          <a:p>
            <a:pPr algn="ctr" indent="0" marL="0">
              <a:buNone/>
            </a:pPr>
            <a:r>
              <a:rPr lang="en-US" sz="1500" b="1" dirty="0">
                <a:solidFill>
                  <a:schemeClr val="bg1"/>
                </a:solidFill>
              </a:rPr>
              <a:t>Test</a:t>
            </a:r>
            <a:endParaRPr lang="en-US" sz="1500" dirty="0"/>
          </a:p>
          <a:p>
            <a:pPr algn="ctr" indent="0" marL="0">
              <a:buNone/>
            </a:pPr>
            <a:r>
              <a:rPr lang="en-US" sz="1100" dirty="0">
                <a:solidFill>
                  <a:schemeClr val="bg1"/>
                </a:solidFill>
              </a:rPr>
              <a:t>pytest + frontend build</a:t>
            </a:r>
            <a:endParaRPr lang="en-US" sz="1500" dirty="0"/>
          </a:p>
        </p:txBody>
      </p:sp>
      <p:sp>
        <p:nvSpPr>
          <p:cNvPr id="5" name="Shape 3"/>
          <p:cNvSpPr/>
          <p:nvPr/>
        </p:nvSpPr>
        <p:spPr>
          <a:xfrm>
            <a:off x="2770632" y="1280160"/>
            <a:ext cx="2240280" cy="868680"/>
          </a:xfrm>
          <a:prstGeom prst="chevron">
            <a:avLst/>
          </a:prstGeom>
          <a:solidFill>
            <a:schemeClr val="accent1"/>
          </a:solidFill>
          <a:ln w="19050">
            <a:solidFill>
              <a:schemeClr val="bg1"/>
            </a:solidFill>
            <a:prstDash val="solid"/>
          </a:ln>
        </p:spPr>
      </p:sp>
      <p:sp>
        <p:nvSpPr>
          <p:cNvPr id="6" name="Text 4"/>
          <p:cNvSpPr txBox="1"/>
          <p:nvPr/>
        </p:nvSpPr>
        <p:spPr>
          <a:xfrm>
            <a:off x="3044952" y="1280160"/>
            <a:ext cx="1737360" cy="868680"/>
          </a:xfrm>
          <a:prstGeom prst="rect">
            <a:avLst/>
          </a:prstGeom>
          <a:noFill/>
          <a:ln/>
        </p:spPr>
        <p:txBody>
          <a:bodyPr wrap="square" lIns="0" tIns="0" rIns="0" bIns="0" rtlCol="0" anchor="ctr"/>
          <a:lstStyle/>
          <a:p>
            <a:pPr algn="ctr" indent="0" marL="0">
              <a:buNone/>
            </a:pPr>
            <a:r>
              <a:rPr lang="en-US" sz="1500" b="1" dirty="0">
                <a:solidFill>
                  <a:schemeClr val="bg1"/>
                </a:solidFill>
              </a:rPr>
              <a:t>Build</a:t>
            </a:r>
            <a:endParaRPr lang="en-US" sz="1500" dirty="0"/>
          </a:p>
          <a:p>
            <a:pPr algn="ctr" indent="0" marL="0">
              <a:buNone/>
            </a:pPr>
            <a:r>
              <a:rPr lang="en-US" sz="1100" dirty="0">
                <a:solidFill>
                  <a:schemeClr val="bg1"/>
                </a:solidFill>
              </a:rPr>
              <a:t>2 images, tag = SHA</a:t>
            </a:r>
            <a:endParaRPr lang="en-US" sz="1500" dirty="0"/>
          </a:p>
        </p:txBody>
      </p:sp>
      <p:sp>
        <p:nvSpPr>
          <p:cNvPr id="7" name="Shape 5"/>
          <p:cNvSpPr/>
          <p:nvPr/>
        </p:nvSpPr>
        <p:spPr>
          <a:xfrm>
            <a:off x="4992624" y="1280160"/>
            <a:ext cx="2240280" cy="868680"/>
          </a:xfrm>
          <a:prstGeom prst="chevron">
            <a:avLst/>
          </a:prstGeom>
          <a:solidFill>
            <a:schemeClr val="accent2"/>
          </a:solidFill>
          <a:ln w="19050">
            <a:solidFill>
              <a:schemeClr val="bg1"/>
            </a:solidFill>
            <a:prstDash val="solid"/>
          </a:ln>
        </p:spPr>
      </p:sp>
      <p:sp>
        <p:nvSpPr>
          <p:cNvPr id="8" name="Text 6"/>
          <p:cNvSpPr txBox="1"/>
          <p:nvPr/>
        </p:nvSpPr>
        <p:spPr>
          <a:xfrm>
            <a:off x="5266944" y="1280160"/>
            <a:ext cx="1737360" cy="868680"/>
          </a:xfrm>
          <a:prstGeom prst="rect">
            <a:avLst/>
          </a:prstGeom>
          <a:noFill/>
          <a:ln/>
        </p:spPr>
        <p:txBody>
          <a:bodyPr wrap="square" lIns="0" tIns="0" rIns="0" bIns="0" rtlCol="0" anchor="ctr"/>
          <a:lstStyle/>
          <a:p>
            <a:pPr algn="ctr" indent="0" marL="0">
              <a:buNone/>
            </a:pPr>
            <a:r>
              <a:rPr lang="en-US" sz="1500" b="1" dirty="0">
                <a:solidFill>
                  <a:schemeClr val="bg1"/>
                </a:solidFill>
              </a:rPr>
              <a:t>Scan</a:t>
            </a:r>
            <a:endParaRPr lang="en-US" sz="1500" dirty="0"/>
          </a:p>
          <a:p>
            <a:pPr algn="ctr" indent="0" marL="0">
              <a:buNone/>
            </a:pPr>
            <a:r>
              <a:rPr lang="en-US" sz="1100" dirty="0">
                <a:solidFill>
                  <a:schemeClr val="bg1"/>
                </a:solidFill>
              </a:rPr>
              <a:t>Trivy HIGH/CRITICAL</a:t>
            </a:r>
            <a:endParaRPr lang="en-US" sz="1500" dirty="0"/>
          </a:p>
        </p:txBody>
      </p:sp>
      <p:sp>
        <p:nvSpPr>
          <p:cNvPr id="9" name="Shape 7"/>
          <p:cNvSpPr/>
          <p:nvPr/>
        </p:nvSpPr>
        <p:spPr>
          <a:xfrm>
            <a:off x="7214616" y="1280160"/>
            <a:ext cx="2240280" cy="868680"/>
          </a:xfrm>
          <a:prstGeom prst="chevron">
            <a:avLst/>
          </a:prstGeom>
          <a:solidFill>
            <a:schemeClr val="accent1"/>
          </a:solidFill>
          <a:ln w="19050">
            <a:solidFill>
              <a:schemeClr val="bg1"/>
            </a:solidFill>
            <a:prstDash val="solid"/>
          </a:ln>
        </p:spPr>
      </p:sp>
      <p:sp>
        <p:nvSpPr>
          <p:cNvPr id="10" name="Text 8"/>
          <p:cNvSpPr txBox="1"/>
          <p:nvPr/>
        </p:nvSpPr>
        <p:spPr>
          <a:xfrm>
            <a:off x="7488936" y="1280160"/>
            <a:ext cx="1737360" cy="868680"/>
          </a:xfrm>
          <a:prstGeom prst="rect">
            <a:avLst/>
          </a:prstGeom>
          <a:noFill/>
          <a:ln/>
        </p:spPr>
        <p:txBody>
          <a:bodyPr wrap="square" lIns="0" tIns="0" rIns="0" bIns="0" rtlCol="0" anchor="ctr"/>
          <a:lstStyle/>
          <a:p>
            <a:pPr algn="ctr" indent="0" marL="0">
              <a:buNone/>
            </a:pPr>
            <a:r>
              <a:rPr lang="en-US" sz="1500" b="1" dirty="0">
                <a:solidFill>
                  <a:schemeClr val="bg1"/>
                </a:solidFill>
              </a:rPr>
              <a:t>Push</a:t>
            </a:r>
            <a:endParaRPr lang="en-US" sz="1500" dirty="0"/>
          </a:p>
          <a:p>
            <a:pPr algn="ctr" indent="0" marL="0">
              <a:buNone/>
            </a:pPr>
            <a:r>
              <a:rPr lang="en-US" sz="1100" dirty="0">
                <a:solidFill>
                  <a:schemeClr val="bg1"/>
                </a:solidFill>
              </a:rPr>
              <a:t>to GHCR</a:t>
            </a:r>
            <a:endParaRPr lang="en-US" sz="1500" dirty="0"/>
          </a:p>
        </p:txBody>
      </p:sp>
      <p:sp>
        <p:nvSpPr>
          <p:cNvPr id="11" name="Shape 9"/>
          <p:cNvSpPr/>
          <p:nvPr/>
        </p:nvSpPr>
        <p:spPr>
          <a:xfrm>
            <a:off x="9436608" y="1280160"/>
            <a:ext cx="2240280" cy="868680"/>
          </a:xfrm>
          <a:prstGeom prst="chevron">
            <a:avLst/>
          </a:prstGeom>
          <a:solidFill>
            <a:schemeClr val="accent1"/>
          </a:solidFill>
          <a:ln w="19050">
            <a:solidFill>
              <a:schemeClr val="bg1"/>
            </a:solidFill>
            <a:prstDash val="solid"/>
          </a:ln>
        </p:spPr>
      </p:sp>
      <p:sp>
        <p:nvSpPr>
          <p:cNvPr id="12" name="Text 10"/>
          <p:cNvSpPr txBox="1"/>
          <p:nvPr/>
        </p:nvSpPr>
        <p:spPr>
          <a:xfrm>
            <a:off x="9710928" y="1280160"/>
            <a:ext cx="1737360" cy="868680"/>
          </a:xfrm>
          <a:prstGeom prst="rect">
            <a:avLst/>
          </a:prstGeom>
          <a:noFill/>
          <a:ln/>
        </p:spPr>
        <p:txBody>
          <a:bodyPr wrap="square" lIns="0" tIns="0" rIns="0" bIns="0" rtlCol="0" anchor="ctr"/>
          <a:lstStyle/>
          <a:p>
            <a:pPr algn="ctr" indent="0" marL="0">
              <a:buNone/>
            </a:pPr>
            <a:r>
              <a:rPr lang="en-US" sz="1500" b="1" dirty="0">
                <a:solidFill>
                  <a:schemeClr val="bg1"/>
                </a:solidFill>
              </a:rPr>
              <a:t>Deploy</a:t>
            </a:r>
            <a:endParaRPr lang="en-US" sz="1500" dirty="0"/>
          </a:p>
          <a:p>
            <a:pPr algn="ctr" indent="0" marL="0">
              <a:buNone/>
            </a:pPr>
            <a:r>
              <a:rPr lang="en-US" sz="1100" dirty="0">
                <a:solidFill>
                  <a:schemeClr val="bg1"/>
                </a:solidFill>
              </a:rPr>
              <a:t>helm upgrade on EKS</a:t>
            </a:r>
            <a:endParaRPr lang="en-US" sz="1500" dirty="0"/>
          </a:p>
        </p:txBody>
      </p:sp>
      <p:sp>
        <p:nvSpPr>
          <p:cNvPr id="13" name="frame 05-actions-green.png"/>
          <p:cNvSpPr/>
          <p:nvPr/>
        </p:nvSpPr>
        <p:spPr>
          <a:xfrm>
            <a:off x="512064" y="2478024"/>
            <a:ext cx="6563533" cy="3730752"/>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14" name="05-actions-green.png" descr="05-actions-green.png">    </p:cNvPr>
          <p:cNvPicPr>
            <a:picLocks noChangeAspect="1"/>
          </p:cNvPicPr>
          <p:nvPr/>
        </p:nvPicPr>
        <p:blipFill>
          <a:blip r:embed="rId1"/>
          <a:stretch>
            <a:fillRect/>
          </a:stretch>
        </p:blipFill>
        <p:spPr>
          <a:xfrm>
            <a:off x="548640" y="2514600"/>
            <a:ext cx="6490381" cy="3657600"/>
          </a:xfrm>
          <a:prstGeom prst="rect">
            <a:avLst/>
          </a:prstGeom>
        </p:spPr>
      </p:pic>
      <p:sp>
        <p:nvSpPr>
          <p:cNvPr id="15" name="frame 07-ghcr.png"/>
          <p:cNvSpPr/>
          <p:nvPr/>
        </p:nvSpPr>
        <p:spPr>
          <a:xfrm>
            <a:off x="7598664" y="2478024"/>
            <a:ext cx="4050792" cy="2303410"/>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16" name="07-ghcr.png" descr="07-ghcr.png">    </p:cNvPr>
          <p:cNvPicPr>
            <a:picLocks noChangeAspect="1"/>
          </p:cNvPicPr>
          <p:nvPr/>
        </p:nvPicPr>
        <p:blipFill>
          <a:blip r:embed="rId2"/>
          <a:stretch>
            <a:fillRect/>
          </a:stretch>
        </p:blipFill>
        <p:spPr>
          <a:xfrm>
            <a:off x="7635240" y="2514600"/>
            <a:ext cx="3977640" cy="2230258"/>
          </a:xfrm>
          <a:prstGeom prst="rect">
            <a:avLst/>
          </a:prstGeom>
        </p:spPr>
      </p:pic>
      <p:sp>
        <p:nvSpPr>
          <p:cNvPr id="17" name="Text 13"/>
          <p:cNvSpPr txBox="1"/>
          <p:nvPr/>
        </p:nvSpPr>
        <p:spPr>
          <a:xfrm>
            <a:off x="7635240" y="4892040"/>
            <a:ext cx="3977640" cy="13258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A failing test stops the run before any image is built</a:t>
            </a:r>
            <a:endParaRPr lang="en-US" sz="1400" dirty="0"/>
          </a:p>
          <a:p>
            <a:pPr marL="203200" indent="-203200">
              <a:spcAft>
                <a:spcPts val="800"/>
              </a:spcAft>
              <a:buSzPct val="100000"/>
              <a:buChar char="•"/>
            </a:pPr>
            <a:r>
              <a:rPr lang="en-US" sz="1400" dirty="0">
                <a:solidFill>
                  <a:schemeClr val="tx1"/>
                </a:solidFill>
              </a:rPr>
              <a:t>Image tag = git commit SHA, never 'latest', so every pod traces back to its commit</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DevSecOps: Trivy blocks known, fixable CVEs</a:t>
            </a:r>
            <a:endParaRPr lang="en-US" sz="3000" dirty="0"/>
          </a:p>
        </p:txBody>
      </p:sp>
      <p:sp>
        <p:nvSpPr>
          <p:cNvPr id="3" name="Shape 1"/>
          <p:cNvSpPr/>
          <p:nvPr/>
        </p:nvSpPr>
        <p:spPr>
          <a:xfrm>
            <a:off x="548640" y="1325880"/>
            <a:ext cx="4846320" cy="1737360"/>
          </a:xfrm>
          <a:prstGeom prst="roundRect">
            <a:avLst>
              <a:gd name="adj" fmla="val 4211"/>
            </a:avLst>
          </a:prstGeom>
          <a:solidFill>
            <a:schemeClr val="bg2"/>
          </a:solidFill>
          <a:ln w="6350">
            <a:solidFill>
              <a:schemeClr val="bg2"/>
            </a:solidFill>
            <a:prstDash val="solid"/>
          </a:ln>
        </p:spPr>
      </p:sp>
      <p:sp>
        <p:nvSpPr>
          <p:cNvPr id="4" name="Text 2"/>
          <p:cNvSpPr txBox="1"/>
          <p:nvPr/>
        </p:nvSpPr>
        <p:spPr>
          <a:xfrm>
            <a:off x="822960" y="1371600"/>
            <a:ext cx="4389120" cy="960120"/>
          </a:xfrm>
          <a:prstGeom prst="rect">
            <a:avLst/>
          </a:prstGeom>
          <a:noFill/>
          <a:ln/>
        </p:spPr>
        <p:txBody>
          <a:bodyPr wrap="square" lIns="0" tIns="0" rIns="0" bIns="0" rtlCol="0" anchor="b"/>
          <a:lstStyle/>
          <a:p>
            <a:pPr indent="0" marL="0">
              <a:buNone/>
            </a:pPr>
            <a:r>
              <a:rPr lang="en-US" sz="5400" b="1" dirty="0">
                <a:solidFill>
                  <a:schemeClr val="accent4"/>
                </a:solidFill>
                <a:latin typeface="Arial" pitchFamily="34" charset="0"/>
                <a:ea typeface="Arial" pitchFamily="34" charset="-122"/>
                <a:cs typeface="Arial" pitchFamily="34" charset="-120"/>
              </a:rPr>
              <a:t>47</a:t>
            </a:r>
            <a:pPr indent="0" marL="0">
              <a:buNone/>
            </a:pPr>
            <a:r>
              <a:rPr lang="en-US" sz="5400" b="1" dirty="0">
                <a:solidFill>
                  <a:schemeClr val="accent6"/>
                </a:solidFill>
                <a:latin typeface="Arial" pitchFamily="34" charset="0"/>
                <a:ea typeface="Arial" pitchFamily="34" charset="-122"/>
                <a:cs typeface="Arial" pitchFamily="34" charset="-120"/>
              </a:rPr>
              <a:t> → </a:t>
            </a:r>
            <a:pPr indent="0" marL="0">
              <a:buNone/>
            </a:pPr>
            <a:r>
              <a:rPr lang="en-US" sz="5400" b="1" dirty="0">
                <a:solidFill>
                  <a:schemeClr val="accent3"/>
                </a:solidFill>
                <a:latin typeface="Arial" pitchFamily="34" charset="0"/>
                <a:ea typeface="Arial" pitchFamily="34" charset="-122"/>
                <a:cs typeface="Arial" pitchFamily="34" charset="-120"/>
              </a:rPr>
              <a:t>0</a:t>
            </a:r>
            <a:endParaRPr lang="en-US" sz="5400" dirty="0"/>
          </a:p>
        </p:txBody>
      </p:sp>
      <p:sp>
        <p:nvSpPr>
          <p:cNvPr id="5" name="Text 3"/>
          <p:cNvSpPr txBox="1"/>
          <p:nvPr/>
        </p:nvSpPr>
        <p:spPr>
          <a:xfrm>
            <a:off x="822960" y="2377440"/>
            <a:ext cx="4389120" cy="457200"/>
          </a:xfrm>
          <a:prstGeom prst="rect">
            <a:avLst/>
          </a:prstGeom>
          <a:noFill/>
          <a:ln/>
        </p:spPr>
        <p:txBody>
          <a:bodyPr wrap="square" lIns="0" tIns="0" rIns="0" bIns="0" rtlCol="0" anchor="ctr"/>
          <a:lstStyle/>
          <a:p>
            <a:pPr indent="0" marL="0">
              <a:buNone/>
            </a:pPr>
            <a:r>
              <a:rPr lang="en-US" sz="1500" dirty="0">
                <a:solidFill>
                  <a:schemeClr val="tx2"/>
                </a:solidFill>
              </a:rPr>
              <a:t>HIGH vulnerabilities across both images</a:t>
            </a:r>
            <a:endParaRPr lang="en-US" sz="1500" dirty="0"/>
          </a:p>
        </p:txBody>
      </p:sp>
      <p:sp>
        <p:nvSpPr>
          <p:cNvPr id="6" name="Text 4"/>
          <p:cNvSpPr txBox="1"/>
          <p:nvPr/>
        </p:nvSpPr>
        <p:spPr>
          <a:xfrm>
            <a:off x="548640" y="3291840"/>
            <a:ext cx="4937760" cy="29260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43 HIGH in the nginx Alpine base → newer base image + apk upgrade</a:t>
            </a:r>
            <a:endParaRPr lang="en-US" sz="1500" dirty="0"/>
          </a:p>
          <a:p>
            <a:pPr marL="203200" indent="-203200">
              <a:spcAft>
                <a:spcPts val="800"/>
              </a:spcAft>
              <a:buSzPct val="100000"/>
              <a:buChar char="•"/>
            </a:pPr>
            <a:r>
              <a:rPr lang="en-US" sz="1500" dirty="0">
                <a:solidFill>
                  <a:schemeClr val="tx1"/>
                </a:solidFill>
              </a:rPr>
              <a:t>4 HIGH in libraries vendored inside pip → pip removed from the runtime image</a:t>
            </a:r>
            <a:endParaRPr lang="en-US" sz="1500" dirty="0"/>
          </a:p>
          <a:p>
            <a:pPr marL="203200" indent="-203200">
              <a:spcAft>
                <a:spcPts val="800"/>
              </a:spcAft>
              <a:buSzPct val="100000"/>
              <a:buChar char="•"/>
            </a:pPr>
            <a:r>
              <a:rPr lang="en-US" sz="1500" dirty="0">
                <a:solidFill>
                  <a:schemeClr val="tx1"/>
                </a:solidFill>
              </a:rPr>
              <a:t>Pipeline fails on any fixable HIGH or CRITICAL</a:t>
            </a:r>
            <a:endParaRPr lang="en-US" sz="1500" dirty="0"/>
          </a:p>
          <a:p>
            <a:pPr marL="203200" indent="-203200">
              <a:spcAft>
                <a:spcPts val="800"/>
              </a:spcAft>
              <a:buSzPct val="100000"/>
              <a:buChar char="•"/>
            </a:pPr>
            <a:r>
              <a:rPr lang="en-US" sz="1500" dirty="0">
                <a:solidFill>
                  <a:schemeClr val="tx1"/>
                </a:solidFill>
              </a:rPr>
              <a:t>Trivy action pinned to a commit SHA (tags can be hijacked)</a:t>
            </a:r>
            <a:endParaRPr lang="en-US" sz="1500" dirty="0"/>
          </a:p>
          <a:p>
            <a:pPr marL="203200" indent="-203200">
              <a:spcAft>
                <a:spcPts val="800"/>
              </a:spcAft>
              <a:buSzPct val="100000"/>
              <a:buChar char="•"/>
            </a:pPr>
            <a:r>
              <a:rPr lang="en-US" sz="1500" dirty="0">
                <a:solidFill>
                  <a:schemeClr val="tx1"/>
                </a:solidFill>
              </a:rPr>
              <a:t>Containers run as non-root with all capabilities dropped</a:t>
            </a:r>
            <a:endParaRPr lang="en-US" sz="1500" dirty="0"/>
          </a:p>
        </p:txBody>
      </p:sp>
      <p:sp>
        <p:nvSpPr>
          <p:cNvPr id="7" name="frame 06c-trivy-summary.png"/>
          <p:cNvSpPr/>
          <p:nvPr/>
        </p:nvSpPr>
        <p:spPr>
          <a:xfrm>
            <a:off x="5815584" y="1289304"/>
            <a:ext cx="5833872" cy="3063479"/>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8" name="06c-trivy-summary.png" descr="06c-trivy-summary.png">    </p:cNvPr>
          <p:cNvPicPr>
            <a:picLocks noChangeAspect="1"/>
          </p:cNvPicPr>
          <p:nvPr/>
        </p:nvPicPr>
        <p:blipFill>
          <a:blip r:embed="rId1"/>
          <a:stretch>
            <a:fillRect/>
          </a:stretch>
        </p:blipFill>
        <p:spPr>
          <a:xfrm>
            <a:off x="5852160" y="1325880"/>
            <a:ext cx="5760720" cy="2990327"/>
          </a:xfrm>
          <a:prstGeom prst="rect">
            <a:avLst/>
          </a:prstGeom>
        </p:spPr>
      </p:pic>
      <p:sp>
        <p:nvSpPr>
          <p:cNvPr id="9" name="Text 6"/>
          <p:cNvSpPr txBox="1"/>
          <p:nvPr/>
        </p:nvSpPr>
        <p:spPr>
          <a:xfrm>
            <a:off x="5852160" y="4453367"/>
            <a:ext cx="5760720" cy="274320"/>
          </a:xfrm>
          <a:prstGeom prst="rect">
            <a:avLst/>
          </a:prstGeom>
          <a:noFill/>
          <a:ln/>
        </p:spPr>
        <p:txBody>
          <a:bodyPr wrap="square" lIns="0" tIns="0" rIns="0" bIns="0" rtlCol="0" anchor="ctr"/>
          <a:lstStyle/>
          <a:p>
            <a:pPr algn="ctr" indent="0" marL="0">
              <a:buNone/>
            </a:pPr>
            <a:r>
              <a:rPr lang="en-US" sz="1100" i="1" dirty="0">
                <a:solidFill>
                  <a:schemeClr val="accent6"/>
                </a:solidFill>
              </a:rPr>
              <a:t>Trivy report for stockpilot-backend:&lt;sha&gt;: Debian 13.7 and every Python package at 0</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Infrastructure as Code with Terraform</a:t>
            </a:r>
            <a:endParaRPr lang="en-US" sz="3000" dirty="0"/>
          </a:p>
        </p:txBody>
      </p:sp>
      <p:sp>
        <p:nvSpPr>
          <p:cNvPr id="3" name="Shape 1"/>
          <p:cNvSpPr/>
          <p:nvPr/>
        </p:nvSpPr>
        <p:spPr>
          <a:xfrm>
            <a:off x="548640" y="1325880"/>
            <a:ext cx="4206240" cy="1600200"/>
          </a:xfrm>
          <a:prstGeom prst="roundRect">
            <a:avLst>
              <a:gd name="adj" fmla="val 4571"/>
            </a:avLst>
          </a:prstGeom>
          <a:solidFill>
            <a:schemeClr val="bg2"/>
          </a:solidFill>
          <a:ln w="6350">
            <a:solidFill>
              <a:schemeClr val="bg2"/>
            </a:solidFill>
            <a:prstDash val="solid"/>
          </a:ln>
        </p:spPr>
      </p:sp>
      <p:sp>
        <p:nvSpPr>
          <p:cNvPr id="4" name="Text 2"/>
          <p:cNvSpPr txBox="1"/>
          <p:nvPr/>
        </p:nvSpPr>
        <p:spPr>
          <a:xfrm>
            <a:off x="822960" y="1371600"/>
            <a:ext cx="3749040" cy="868680"/>
          </a:xfrm>
          <a:prstGeom prst="rect">
            <a:avLst/>
          </a:prstGeom>
          <a:noFill/>
          <a:ln/>
        </p:spPr>
        <p:txBody>
          <a:bodyPr wrap="square" lIns="0" tIns="0" rIns="0" bIns="0" rtlCol="0" anchor="b"/>
          <a:lstStyle/>
          <a:p>
            <a:pPr indent="0" marL="0">
              <a:buNone/>
            </a:pPr>
            <a:r>
              <a:rPr lang="en-US" sz="4800" b="1" dirty="0">
                <a:solidFill>
                  <a:schemeClr val="accent5"/>
                </a:solidFill>
                <a:latin typeface="Arial" pitchFamily="34" charset="0"/>
                <a:ea typeface="Arial" pitchFamily="34" charset="-122"/>
                <a:cs typeface="Arial" pitchFamily="34" charset="-120"/>
              </a:rPr>
              <a:t>62</a:t>
            </a:r>
            <a:endParaRPr lang="en-US" sz="4800" dirty="0"/>
          </a:p>
        </p:txBody>
      </p:sp>
      <p:sp>
        <p:nvSpPr>
          <p:cNvPr id="5" name="Text 3"/>
          <p:cNvSpPr txBox="1"/>
          <p:nvPr/>
        </p:nvSpPr>
        <p:spPr>
          <a:xfrm>
            <a:off x="822960" y="2267712"/>
            <a:ext cx="3749040" cy="548640"/>
          </a:xfrm>
          <a:prstGeom prst="rect">
            <a:avLst/>
          </a:prstGeom>
          <a:noFill/>
          <a:ln/>
        </p:spPr>
        <p:txBody>
          <a:bodyPr wrap="square" lIns="0" tIns="0" rIns="0" bIns="0" rtlCol="0" anchor="t"/>
          <a:lstStyle/>
          <a:p>
            <a:pPr indent="0" marL="0">
              <a:buNone/>
            </a:pPr>
            <a:r>
              <a:rPr lang="en-US" sz="1400" dirty="0">
                <a:solidFill>
                  <a:schemeClr val="tx2"/>
                </a:solidFill>
              </a:rPr>
              <a:t>AWS resources from one terraform apply</a:t>
            </a:r>
            <a:endParaRPr lang="en-US" sz="1400" dirty="0"/>
          </a:p>
        </p:txBody>
      </p:sp>
      <p:sp>
        <p:nvSpPr>
          <p:cNvPr id="6" name="Text 4"/>
          <p:cNvSpPr txBox="1"/>
          <p:nvPr/>
        </p:nvSpPr>
        <p:spPr>
          <a:xfrm>
            <a:off x="548640" y="3154680"/>
            <a:ext cx="4206240" cy="30632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VPC 10.30.0.0/16 across 2 AZs, 2 public + 2 private subnets, single NAT gateway</a:t>
            </a:r>
            <a:endParaRPr lang="en-US" sz="1500" dirty="0"/>
          </a:p>
          <a:p>
            <a:pPr marL="203200" indent="-203200">
              <a:spcAft>
                <a:spcPts val="800"/>
              </a:spcAft>
              <a:buSzPct val="100000"/>
              <a:buChar char="•"/>
            </a:pPr>
            <a:r>
              <a:rPr lang="en-US" sz="1500" dirty="0">
                <a:solidFill>
                  <a:schemeClr val="tx1"/>
                </a:solidFill>
              </a:rPr>
              <a:t>EKS 1.34 with a managed node group of 2× c7i-flex.large (AL2023)</a:t>
            </a:r>
            <a:endParaRPr lang="en-US" sz="1500" dirty="0"/>
          </a:p>
          <a:p>
            <a:pPr marL="203200" indent="-203200">
              <a:spcAft>
                <a:spcPts val="800"/>
              </a:spcAft>
              <a:buSzPct val="100000"/>
              <a:buChar char="•"/>
            </a:pPr>
            <a:r>
              <a:rPr lang="en-US" sz="1500" dirty="0">
                <a:solidFill>
                  <a:schemeClr val="tx1"/>
                </a:solidFill>
              </a:rPr>
              <a:t>Add-ons: vpc-cni, coredns, kube-proxy, metrics-server, EBS CSI via Pod Identity</a:t>
            </a:r>
            <a:endParaRPr lang="en-US" sz="1500" dirty="0"/>
          </a:p>
          <a:p>
            <a:pPr marL="203200" indent="-203200">
              <a:spcAft>
                <a:spcPts val="800"/>
              </a:spcAft>
              <a:buSzPct val="100000"/>
              <a:buChar char="•"/>
            </a:pPr>
            <a:r>
              <a:rPr lang="en-US" sz="1500" dirty="0">
                <a:solidFill>
                  <a:schemeClr val="tx1"/>
                </a:solidFill>
              </a:rPr>
              <a:t>No credentials in the repo; terraform destroy removes everything</a:t>
            </a:r>
            <a:endParaRPr lang="en-US" sz="1500" dirty="0"/>
          </a:p>
        </p:txBody>
      </p:sp>
      <p:sp>
        <p:nvSpPr>
          <p:cNvPr id="7" name="frame 08-terraform-plan.png"/>
          <p:cNvSpPr/>
          <p:nvPr/>
        </p:nvSpPr>
        <p:spPr>
          <a:xfrm>
            <a:off x="6666465" y="1289304"/>
            <a:ext cx="3446309" cy="1993392"/>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8" name="08-terraform-plan.png" descr="08-terraform-plan.png">    </p:cNvPr>
          <p:cNvPicPr>
            <a:picLocks noChangeAspect="1"/>
          </p:cNvPicPr>
          <p:nvPr/>
        </p:nvPicPr>
        <p:blipFill>
          <a:blip r:embed="rId1"/>
          <a:stretch>
            <a:fillRect/>
          </a:stretch>
        </p:blipFill>
        <p:spPr>
          <a:xfrm>
            <a:off x="6703041" y="1325880"/>
            <a:ext cx="3373157" cy="1920240"/>
          </a:xfrm>
          <a:prstGeom prst="rect">
            <a:avLst/>
          </a:prstGeom>
        </p:spPr>
      </p:pic>
      <p:sp>
        <p:nvSpPr>
          <p:cNvPr id="9" name="Text 6"/>
          <p:cNvSpPr txBox="1"/>
          <p:nvPr/>
        </p:nvSpPr>
        <p:spPr>
          <a:xfrm>
            <a:off x="5166360" y="3337560"/>
            <a:ext cx="6446520" cy="274320"/>
          </a:xfrm>
          <a:prstGeom prst="rect">
            <a:avLst/>
          </a:prstGeom>
          <a:noFill/>
          <a:ln/>
        </p:spPr>
        <p:txBody>
          <a:bodyPr wrap="square" lIns="0" tIns="0" rIns="0" bIns="0" rtlCol="0" anchor="ctr"/>
          <a:lstStyle/>
          <a:p>
            <a:pPr algn="ctr" indent="0" marL="0">
              <a:buNone/>
            </a:pPr>
            <a:r>
              <a:rPr lang="en-US" sz="1100" i="1" dirty="0">
                <a:solidFill>
                  <a:schemeClr val="accent6"/>
                </a:solidFill>
              </a:rPr>
              <a:t>terraform plan: Plan: 62 to add, 0 to change, 0 to destroy</a:t>
            </a:r>
            <a:endParaRPr lang="en-US" sz="1100" dirty="0"/>
          </a:p>
        </p:txBody>
      </p:sp>
      <p:sp>
        <p:nvSpPr>
          <p:cNvPr id="10" name="frame 09c-aws-eks.png"/>
          <p:cNvSpPr/>
          <p:nvPr/>
        </p:nvSpPr>
        <p:spPr>
          <a:xfrm>
            <a:off x="6663091" y="3803904"/>
            <a:ext cx="3453058" cy="1993392"/>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11" name="09c-aws-eks.png" descr="09c-aws-eks.png">    </p:cNvPr>
          <p:cNvPicPr>
            <a:picLocks noChangeAspect="1"/>
          </p:cNvPicPr>
          <p:nvPr/>
        </p:nvPicPr>
        <p:blipFill>
          <a:blip r:embed="rId2"/>
          <a:stretch>
            <a:fillRect/>
          </a:stretch>
        </p:blipFill>
        <p:spPr>
          <a:xfrm>
            <a:off x="6699667" y="3840480"/>
            <a:ext cx="3379906" cy="1920240"/>
          </a:xfrm>
          <a:prstGeom prst="rect">
            <a:avLst/>
          </a:prstGeom>
        </p:spPr>
      </p:pic>
      <p:sp>
        <p:nvSpPr>
          <p:cNvPr id="12" name="Text 8"/>
          <p:cNvSpPr txBox="1"/>
          <p:nvPr/>
        </p:nvSpPr>
        <p:spPr>
          <a:xfrm>
            <a:off x="5166360" y="5852160"/>
            <a:ext cx="6446520" cy="274320"/>
          </a:xfrm>
          <a:prstGeom prst="rect">
            <a:avLst/>
          </a:prstGeom>
          <a:noFill/>
          <a:ln/>
        </p:spPr>
        <p:txBody>
          <a:bodyPr wrap="square" lIns="0" tIns="0" rIns="0" bIns="0" rtlCol="0" anchor="ctr"/>
          <a:lstStyle/>
          <a:p>
            <a:pPr algn="ctr" indent="0" marL="0">
              <a:buNone/>
            </a:pPr>
            <a:r>
              <a:rPr lang="en-US" sz="1100" i="1" dirty="0">
                <a:solidFill>
                  <a:schemeClr val="accent6"/>
                </a:solidFill>
              </a:rPr>
              <a:t>EKS console: stockpilot-dev-eks Active, Kubernetes 1.34</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Kubernetes + Helm: one chart, one release</a:t>
            </a:r>
            <a:endParaRPr lang="en-US" sz="3000" dirty="0"/>
          </a:p>
        </p:txBody>
      </p:sp>
      <p:sp>
        <p:nvSpPr>
          <p:cNvPr id="3" name="Shape 1"/>
          <p:cNvSpPr/>
          <p:nvPr/>
        </p:nvSpPr>
        <p:spPr>
          <a:xfrm>
            <a:off x="548640" y="1325880"/>
            <a:ext cx="2377440" cy="1078992"/>
          </a:xfrm>
          <a:prstGeom prst="roundRect">
            <a:avLst>
              <a:gd name="adj" fmla="val 6780"/>
            </a:avLst>
          </a:prstGeom>
          <a:solidFill>
            <a:schemeClr val="bg2"/>
          </a:solidFill>
          <a:ln w="6350">
            <a:solidFill>
              <a:schemeClr val="bg2"/>
            </a:solidFill>
            <a:prstDash val="solid"/>
          </a:ln>
        </p:spPr>
      </p:sp>
      <p:sp>
        <p:nvSpPr>
          <p:cNvPr id="4" name="Text 2"/>
          <p:cNvSpPr txBox="1"/>
          <p:nvPr/>
        </p:nvSpPr>
        <p:spPr>
          <a:xfrm>
            <a:off x="685800" y="1435608"/>
            <a:ext cx="2103120" cy="36576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Deployments</a:t>
            </a:r>
            <a:endParaRPr lang="en-US" sz="1500" dirty="0"/>
          </a:p>
        </p:txBody>
      </p:sp>
      <p:sp>
        <p:nvSpPr>
          <p:cNvPr id="5" name="Text 3"/>
          <p:cNvSpPr txBox="1"/>
          <p:nvPr/>
        </p:nvSpPr>
        <p:spPr>
          <a:xfrm>
            <a:off x="685800" y="1801368"/>
            <a:ext cx="2103120" cy="530352"/>
          </a:xfrm>
          <a:prstGeom prst="rect">
            <a:avLst/>
          </a:prstGeom>
          <a:noFill/>
          <a:ln/>
        </p:spPr>
        <p:txBody>
          <a:bodyPr wrap="square" lIns="0" tIns="0" rIns="0" bIns="0" rtlCol="0" anchor="t"/>
          <a:lstStyle/>
          <a:p>
            <a:pPr indent="0" marL="0">
              <a:buNone/>
            </a:pPr>
            <a:r>
              <a:rPr lang="en-US" sz="1300" dirty="0">
                <a:solidFill>
                  <a:schemeClr val="tx2"/>
                </a:solidFill>
              </a:rPr>
              <a:t>backend + frontend, 2 replicas</a:t>
            </a:r>
            <a:endParaRPr lang="en-US" sz="1300" dirty="0"/>
          </a:p>
        </p:txBody>
      </p:sp>
      <p:sp>
        <p:nvSpPr>
          <p:cNvPr id="6" name="Shape 4"/>
          <p:cNvSpPr/>
          <p:nvPr/>
        </p:nvSpPr>
        <p:spPr>
          <a:xfrm>
            <a:off x="3063240" y="1325880"/>
            <a:ext cx="2377440" cy="1078992"/>
          </a:xfrm>
          <a:prstGeom prst="roundRect">
            <a:avLst>
              <a:gd name="adj" fmla="val 6780"/>
            </a:avLst>
          </a:prstGeom>
          <a:solidFill>
            <a:schemeClr val="bg2"/>
          </a:solidFill>
          <a:ln w="6350">
            <a:solidFill>
              <a:schemeClr val="bg2"/>
            </a:solidFill>
            <a:prstDash val="solid"/>
          </a:ln>
        </p:spPr>
      </p:sp>
      <p:sp>
        <p:nvSpPr>
          <p:cNvPr id="7" name="Text 5"/>
          <p:cNvSpPr txBox="1"/>
          <p:nvPr/>
        </p:nvSpPr>
        <p:spPr>
          <a:xfrm>
            <a:off x="3200400" y="1435608"/>
            <a:ext cx="2103120" cy="36576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StatefulSet</a:t>
            </a:r>
            <a:endParaRPr lang="en-US" sz="1500" dirty="0"/>
          </a:p>
        </p:txBody>
      </p:sp>
      <p:sp>
        <p:nvSpPr>
          <p:cNvPr id="8" name="Text 6"/>
          <p:cNvSpPr txBox="1"/>
          <p:nvPr/>
        </p:nvSpPr>
        <p:spPr>
          <a:xfrm>
            <a:off x="3200400" y="1801368"/>
            <a:ext cx="2103120" cy="530352"/>
          </a:xfrm>
          <a:prstGeom prst="rect">
            <a:avLst/>
          </a:prstGeom>
          <a:noFill/>
          <a:ln/>
        </p:spPr>
        <p:txBody>
          <a:bodyPr wrap="square" lIns="0" tIns="0" rIns="0" bIns="0" rtlCol="0" anchor="t"/>
          <a:lstStyle/>
          <a:p>
            <a:pPr indent="0" marL="0">
              <a:buNone/>
            </a:pPr>
            <a:r>
              <a:rPr lang="en-US" sz="1300" dirty="0">
                <a:solidFill>
                  <a:schemeClr val="tx2"/>
                </a:solidFill>
              </a:rPr>
              <a:t>PostgreSQL, 10 GiB gp3 PVC</a:t>
            </a:r>
            <a:endParaRPr lang="en-US" sz="1300" dirty="0"/>
          </a:p>
        </p:txBody>
      </p:sp>
      <p:sp>
        <p:nvSpPr>
          <p:cNvPr id="9" name="Shape 7"/>
          <p:cNvSpPr/>
          <p:nvPr/>
        </p:nvSpPr>
        <p:spPr>
          <a:xfrm>
            <a:off x="548640" y="2542032"/>
            <a:ext cx="2377440" cy="1078992"/>
          </a:xfrm>
          <a:prstGeom prst="roundRect">
            <a:avLst>
              <a:gd name="adj" fmla="val 6780"/>
            </a:avLst>
          </a:prstGeom>
          <a:solidFill>
            <a:schemeClr val="bg2"/>
          </a:solidFill>
          <a:ln w="6350">
            <a:solidFill>
              <a:schemeClr val="bg2"/>
            </a:solidFill>
            <a:prstDash val="solid"/>
          </a:ln>
        </p:spPr>
      </p:sp>
      <p:sp>
        <p:nvSpPr>
          <p:cNvPr id="10" name="Text 8"/>
          <p:cNvSpPr txBox="1"/>
          <p:nvPr/>
        </p:nvSpPr>
        <p:spPr>
          <a:xfrm>
            <a:off x="685800" y="2651760"/>
            <a:ext cx="2103120" cy="36576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Services</a:t>
            </a:r>
            <a:endParaRPr lang="en-US" sz="1500" dirty="0"/>
          </a:p>
        </p:txBody>
      </p:sp>
      <p:sp>
        <p:nvSpPr>
          <p:cNvPr id="11" name="Text 9"/>
          <p:cNvSpPr txBox="1"/>
          <p:nvPr/>
        </p:nvSpPr>
        <p:spPr>
          <a:xfrm>
            <a:off x="685800" y="3017520"/>
            <a:ext cx="2103120" cy="530352"/>
          </a:xfrm>
          <a:prstGeom prst="rect">
            <a:avLst/>
          </a:prstGeom>
          <a:noFill/>
          <a:ln/>
        </p:spPr>
        <p:txBody>
          <a:bodyPr wrap="square" lIns="0" tIns="0" rIns="0" bIns="0" rtlCol="0" anchor="t"/>
          <a:lstStyle/>
          <a:p>
            <a:pPr indent="0" marL="0">
              <a:buNone/>
            </a:pPr>
            <a:r>
              <a:rPr lang="en-US" sz="1300" dirty="0">
                <a:solidFill>
                  <a:schemeClr val="tx2"/>
                </a:solidFill>
              </a:rPr>
              <a:t>ClusterIP for all three tiers</a:t>
            </a:r>
            <a:endParaRPr lang="en-US" sz="1300" dirty="0"/>
          </a:p>
        </p:txBody>
      </p:sp>
      <p:sp>
        <p:nvSpPr>
          <p:cNvPr id="12" name="Shape 10"/>
          <p:cNvSpPr/>
          <p:nvPr/>
        </p:nvSpPr>
        <p:spPr>
          <a:xfrm>
            <a:off x="3063240" y="2542032"/>
            <a:ext cx="2377440" cy="1078992"/>
          </a:xfrm>
          <a:prstGeom prst="roundRect">
            <a:avLst>
              <a:gd name="adj" fmla="val 6780"/>
            </a:avLst>
          </a:prstGeom>
          <a:solidFill>
            <a:schemeClr val="bg2"/>
          </a:solidFill>
          <a:ln w="6350">
            <a:solidFill>
              <a:schemeClr val="bg2"/>
            </a:solidFill>
            <a:prstDash val="solid"/>
          </a:ln>
        </p:spPr>
      </p:sp>
      <p:sp>
        <p:nvSpPr>
          <p:cNvPr id="13" name="Text 11"/>
          <p:cNvSpPr txBox="1"/>
          <p:nvPr/>
        </p:nvSpPr>
        <p:spPr>
          <a:xfrm>
            <a:off x="3200400" y="2651760"/>
            <a:ext cx="2103120" cy="36576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Ingress</a:t>
            </a:r>
            <a:endParaRPr lang="en-US" sz="1500" dirty="0"/>
          </a:p>
        </p:txBody>
      </p:sp>
      <p:sp>
        <p:nvSpPr>
          <p:cNvPr id="14" name="Text 12"/>
          <p:cNvSpPr txBox="1"/>
          <p:nvPr/>
        </p:nvSpPr>
        <p:spPr>
          <a:xfrm>
            <a:off x="3200400" y="3017520"/>
            <a:ext cx="2103120" cy="530352"/>
          </a:xfrm>
          <a:prstGeom prst="rect">
            <a:avLst/>
          </a:prstGeom>
          <a:noFill/>
          <a:ln/>
        </p:spPr>
        <p:txBody>
          <a:bodyPr wrap="square" lIns="0" tIns="0" rIns="0" bIns="0" rtlCol="0" anchor="t"/>
          <a:lstStyle/>
          <a:p>
            <a:pPr indent="0" marL="0">
              <a:buNone/>
            </a:pPr>
            <a:r>
              <a:rPr lang="en-US" sz="1300" dirty="0">
                <a:solidFill>
                  <a:schemeClr val="tx2"/>
                </a:solidFill>
              </a:rPr>
              <a:t>/ → frontend, /api → backend</a:t>
            </a:r>
            <a:endParaRPr lang="en-US" sz="1300" dirty="0"/>
          </a:p>
        </p:txBody>
      </p:sp>
      <p:sp>
        <p:nvSpPr>
          <p:cNvPr id="15" name="Shape 13"/>
          <p:cNvSpPr/>
          <p:nvPr/>
        </p:nvSpPr>
        <p:spPr>
          <a:xfrm>
            <a:off x="548640" y="3758184"/>
            <a:ext cx="2377440" cy="1078992"/>
          </a:xfrm>
          <a:prstGeom prst="roundRect">
            <a:avLst>
              <a:gd name="adj" fmla="val 6780"/>
            </a:avLst>
          </a:prstGeom>
          <a:solidFill>
            <a:schemeClr val="bg2"/>
          </a:solidFill>
          <a:ln w="6350">
            <a:solidFill>
              <a:schemeClr val="bg2"/>
            </a:solidFill>
            <a:prstDash val="solid"/>
          </a:ln>
        </p:spPr>
      </p:sp>
      <p:sp>
        <p:nvSpPr>
          <p:cNvPr id="16" name="Text 14"/>
          <p:cNvSpPr txBox="1"/>
          <p:nvPr/>
        </p:nvSpPr>
        <p:spPr>
          <a:xfrm>
            <a:off x="685800" y="3867912"/>
            <a:ext cx="2103120" cy="36576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HPA + PDBs</a:t>
            </a:r>
            <a:endParaRPr lang="en-US" sz="1500" dirty="0"/>
          </a:p>
        </p:txBody>
      </p:sp>
      <p:sp>
        <p:nvSpPr>
          <p:cNvPr id="17" name="Text 15"/>
          <p:cNvSpPr txBox="1"/>
          <p:nvPr/>
        </p:nvSpPr>
        <p:spPr>
          <a:xfrm>
            <a:off x="685800" y="4233672"/>
            <a:ext cx="2103120" cy="530352"/>
          </a:xfrm>
          <a:prstGeom prst="rect">
            <a:avLst/>
          </a:prstGeom>
          <a:noFill/>
          <a:ln/>
        </p:spPr>
        <p:txBody>
          <a:bodyPr wrap="square" lIns="0" tIns="0" rIns="0" bIns="0" rtlCol="0" anchor="t"/>
          <a:lstStyle/>
          <a:p>
            <a:pPr indent="0" marL="0">
              <a:buNone/>
            </a:pPr>
            <a:r>
              <a:rPr lang="en-US" sz="1300" dirty="0">
                <a:solidFill>
                  <a:schemeClr val="tx2"/>
                </a:solidFill>
              </a:rPr>
              <a:t>2–6 backend pods, 1 always up</a:t>
            </a:r>
            <a:endParaRPr lang="en-US" sz="1300" dirty="0"/>
          </a:p>
        </p:txBody>
      </p:sp>
      <p:sp>
        <p:nvSpPr>
          <p:cNvPr id="18" name="Shape 16"/>
          <p:cNvSpPr/>
          <p:nvPr/>
        </p:nvSpPr>
        <p:spPr>
          <a:xfrm>
            <a:off x="3063240" y="3758184"/>
            <a:ext cx="2377440" cy="1078992"/>
          </a:xfrm>
          <a:prstGeom prst="roundRect">
            <a:avLst>
              <a:gd name="adj" fmla="val 6780"/>
            </a:avLst>
          </a:prstGeom>
          <a:solidFill>
            <a:schemeClr val="bg2"/>
          </a:solidFill>
          <a:ln w="6350">
            <a:solidFill>
              <a:schemeClr val="bg2"/>
            </a:solidFill>
            <a:prstDash val="solid"/>
          </a:ln>
        </p:spPr>
      </p:sp>
      <p:sp>
        <p:nvSpPr>
          <p:cNvPr id="19" name="Text 17"/>
          <p:cNvSpPr txBox="1"/>
          <p:nvPr/>
        </p:nvSpPr>
        <p:spPr>
          <a:xfrm>
            <a:off x="3200400" y="3867912"/>
            <a:ext cx="2103120" cy="36576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Secret</a:t>
            </a:r>
            <a:endParaRPr lang="en-US" sz="1500" dirty="0"/>
          </a:p>
        </p:txBody>
      </p:sp>
      <p:sp>
        <p:nvSpPr>
          <p:cNvPr id="20" name="Text 18"/>
          <p:cNvSpPr txBox="1"/>
          <p:nvPr/>
        </p:nvSpPr>
        <p:spPr>
          <a:xfrm>
            <a:off x="3200400" y="4233672"/>
            <a:ext cx="2103120" cy="530352"/>
          </a:xfrm>
          <a:prstGeom prst="rect">
            <a:avLst/>
          </a:prstGeom>
          <a:noFill/>
          <a:ln/>
        </p:spPr>
        <p:txBody>
          <a:bodyPr wrap="square" lIns="0" tIns="0" rIns="0" bIns="0" rtlCol="0" anchor="t"/>
          <a:lstStyle/>
          <a:p>
            <a:pPr indent="0" marL="0">
              <a:buNone/>
            </a:pPr>
            <a:r>
              <a:rPr lang="en-US" sz="1300" dirty="0">
                <a:solidFill>
                  <a:schemeClr val="tx2"/>
                </a:solidFill>
              </a:rPr>
              <a:t>generated DB password</a:t>
            </a:r>
            <a:endParaRPr lang="en-US" sz="1300" dirty="0"/>
          </a:p>
        </p:txBody>
      </p:sp>
      <p:sp>
        <p:nvSpPr>
          <p:cNvPr id="21" name="Shape 19"/>
          <p:cNvSpPr/>
          <p:nvPr/>
        </p:nvSpPr>
        <p:spPr>
          <a:xfrm>
            <a:off x="548640" y="4974336"/>
            <a:ext cx="2377440" cy="1078992"/>
          </a:xfrm>
          <a:prstGeom prst="roundRect">
            <a:avLst>
              <a:gd name="adj" fmla="val 6780"/>
            </a:avLst>
          </a:prstGeom>
          <a:solidFill>
            <a:schemeClr val="bg2"/>
          </a:solidFill>
          <a:ln w="6350">
            <a:solidFill>
              <a:schemeClr val="bg2"/>
            </a:solidFill>
            <a:prstDash val="solid"/>
          </a:ln>
        </p:spPr>
      </p:sp>
      <p:sp>
        <p:nvSpPr>
          <p:cNvPr id="22" name="Text 20"/>
          <p:cNvSpPr txBox="1"/>
          <p:nvPr/>
        </p:nvSpPr>
        <p:spPr>
          <a:xfrm>
            <a:off x="685800" y="5084064"/>
            <a:ext cx="2103120" cy="36576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Probes</a:t>
            </a:r>
            <a:endParaRPr lang="en-US" sz="1500" dirty="0"/>
          </a:p>
        </p:txBody>
      </p:sp>
      <p:sp>
        <p:nvSpPr>
          <p:cNvPr id="23" name="Text 21"/>
          <p:cNvSpPr txBox="1"/>
          <p:nvPr/>
        </p:nvSpPr>
        <p:spPr>
          <a:xfrm>
            <a:off x="685800" y="5449824"/>
            <a:ext cx="2103120" cy="530352"/>
          </a:xfrm>
          <a:prstGeom prst="rect">
            <a:avLst/>
          </a:prstGeom>
          <a:noFill/>
          <a:ln/>
        </p:spPr>
        <p:txBody>
          <a:bodyPr wrap="square" lIns="0" tIns="0" rIns="0" bIns="0" rtlCol="0" anchor="t"/>
          <a:lstStyle/>
          <a:p>
            <a:pPr indent="0" marL="0">
              <a:buNone/>
            </a:pPr>
            <a:r>
              <a:rPr lang="en-US" sz="1300" dirty="0">
                <a:solidFill>
                  <a:schemeClr val="tx2"/>
                </a:solidFill>
              </a:rPr>
              <a:t>startup, /health, /ready</a:t>
            </a:r>
            <a:endParaRPr lang="en-US" sz="1300" dirty="0"/>
          </a:p>
        </p:txBody>
      </p:sp>
      <p:sp>
        <p:nvSpPr>
          <p:cNvPr id="24" name="Shape 22"/>
          <p:cNvSpPr/>
          <p:nvPr/>
        </p:nvSpPr>
        <p:spPr>
          <a:xfrm>
            <a:off x="3063240" y="4974336"/>
            <a:ext cx="2377440" cy="1078992"/>
          </a:xfrm>
          <a:prstGeom prst="roundRect">
            <a:avLst>
              <a:gd name="adj" fmla="val 6780"/>
            </a:avLst>
          </a:prstGeom>
          <a:solidFill>
            <a:schemeClr val="bg2"/>
          </a:solidFill>
          <a:ln w="6350">
            <a:solidFill>
              <a:schemeClr val="bg2"/>
            </a:solidFill>
            <a:prstDash val="solid"/>
          </a:ln>
        </p:spPr>
      </p:sp>
      <p:sp>
        <p:nvSpPr>
          <p:cNvPr id="25" name="Text 23"/>
          <p:cNvSpPr txBox="1"/>
          <p:nvPr/>
        </p:nvSpPr>
        <p:spPr>
          <a:xfrm>
            <a:off x="3200400" y="5084064"/>
            <a:ext cx="2103120" cy="36576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Monitoring</a:t>
            </a:r>
            <a:endParaRPr lang="en-US" sz="1500" dirty="0"/>
          </a:p>
        </p:txBody>
      </p:sp>
      <p:sp>
        <p:nvSpPr>
          <p:cNvPr id="26" name="Text 24"/>
          <p:cNvSpPr txBox="1"/>
          <p:nvPr/>
        </p:nvSpPr>
        <p:spPr>
          <a:xfrm>
            <a:off x="3200400" y="5449824"/>
            <a:ext cx="2103120" cy="530352"/>
          </a:xfrm>
          <a:prstGeom prst="rect">
            <a:avLst/>
          </a:prstGeom>
          <a:noFill/>
          <a:ln/>
        </p:spPr>
        <p:txBody>
          <a:bodyPr wrap="square" lIns="0" tIns="0" rIns="0" bIns="0" rtlCol="0" anchor="t"/>
          <a:lstStyle/>
          <a:p>
            <a:pPr indent="0" marL="0">
              <a:buNone/>
            </a:pPr>
            <a:r>
              <a:rPr lang="en-US" sz="1300" dirty="0">
                <a:solidFill>
                  <a:schemeClr val="tx2"/>
                </a:solidFill>
              </a:rPr>
              <a:t>ServiceMonitor + dashboard</a:t>
            </a:r>
            <a:endParaRPr lang="en-US" sz="1300" dirty="0"/>
          </a:p>
        </p:txBody>
      </p:sp>
      <p:sp>
        <p:nvSpPr>
          <p:cNvPr id="27" name="frame 10-kubectl-pods-svc.png"/>
          <p:cNvSpPr/>
          <p:nvPr/>
        </p:nvSpPr>
        <p:spPr>
          <a:xfrm>
            <a:off x="5815584" y="1289304"/>
            <a:ext cx="5833872" cy="1568724"/>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28" name="10-kubectl-pods-svc.png" descr="10-kubectl-pods-svc.png">    </p:cNvPr>
          <p:cNvPicPr>
            <a:picLocks noChangeAspect="1"/>
          </p:cNvPicPr>
          <p:nvPr/>
        </p:nvPicPr>
        <p:blipFill>
          <a:blip r:embed="rId1"/>
          <a:stretch>
            <a:fillRect/>
          </a:stretch>
        </p:blipFill>
        <p:spPr>
          <a:xfrm>
            <a:off x="5852160" y="1325880"/>
            <a:ext cx="5760720" cy="1495572"/>
          </a:xfrm>
          <a:prstGeom prst="rect">
            <a:avLst/>
          </a:prstGeom>
        </p:spPr>
      </p:pic>
      <p:sp>
        <p:nvSpPr>
          <p:cNvPr id="29" name="Text 26"/>
          <p:cNvSpPr txBox="1"/>
          <p:nvPr/>
        </p:nvSpPr>
        <p:spPr>
          <a:xfrm>
            <a:off x="5852160" y="2971800"/>
            <a:ext cx="5760720" cy="274320"/>
          </a:xfrm>
          <a:prstGeom prst="rect">
            <a:avLst/>
          </a:prstGeom>
          <a:noFill/>
          <a:ln/>
        </p:spPr>
        <p:txBody>
          <a:bodyPr wrap="square" lIns="0" tIns="0" rIns="0" bIns="0" rtlCol="0" anchor="ctr"/>
          <a:lstStyle/>
          <a:p>
            <a:pPr algn="ctr" indent="0" marL="0">
              <a:buNone/>
            </a:pPr>
            <a:r>
              <a:rPr lang="en-US" sz="1100" i="1" dirty="0">
                <a:solidFill>
                  <a:schemeClr val="accent6"/>
                </a:solidFill>
              </a:rPr>
              <a:t>kubectl get pods,svc: 5 pods Running, 3 ClusterIP services</a:t>
            </a:r>
            <a:endParaRPr lang="en-US" sz="1100" dirty="0"/>
          </a:p>
        </p:txBody>
      </p:sp>
      <p:sp>
        <p:nvSpPr>
          <p:cNvPr id="30" name="frame 11-helm-list.png"/>
          <p:cNvSpPr/>
          <p:nvPr/>
        </p:nvSpPr>
        <p:spPr>
          <a:xfrm>
            <a:off x="5815584" y="3483864"/>
            <a:ext cx="5833872" cy="547479"/>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31" name="11-helm-list.png" descr="11-helm-list.png">    </p:cNvPr>
          <p:cNvPicPr>
            <a:picLocks noChangeAspect="1"/>
          </p:cNvPicPr>
          <p:nvPr/>
        </p:nvPicPr>
        <p:blipFill>
          <a:blip r:embed="rId2"/>
          <a:stretch>
            <a:fillRect/>
          </a:stretch>
        </p:blipFill>
        <p:spPr>
          <a:xfrm>
            <a:off x="5852160" y="3520440"/>
            <a:ext cx="5760720" cy="474327"/>
          </a:xfrm>
          <a:prstGeom prst="rect">
            <a:avLst/>
          </a:prstGeom>
        </p:spPr>
      </p:pic>
      <p:sp>
        <p:nvSpPr>
          <p:cNvPr id="32" name="Text 28"/>
          <p:cNvSpPr txBox="1"/>
          <p:nvPr/>
        </p:nvSpPr>
        <p:spPr>
          <a:xfrm>
            <a:off x="5852160" y="4096512"/>
            <a:ext cx="5760720" cy="274320"/>
          </a:xfrm>
          <a:prstGeom prst="rect">
            <a:avLst/>
          </a:prstGeom>
          <a:noFill/>
          <a:ln/>
        </p:spPr>
        <p:txBody>
          <a:bodyPr wrap="square" lIns="0" tIns="0" rIns="0" bIns="0" rtlCol="0" anchor="ctr"/>
          <a:lstStyle/>
          <a:p>
            <a:pPr algn="ctr" indent="0" marL="0">
              <a:buNone/>
            </a:pPr>
            <a:r>
              <a:rPr lang="en-US" sz="1100" i="1" dirty="0">
                <a:solidFill>
                  <a:schemeClr val="accent6"/>
                </a:solidFill>
              </a:rPr>
              <a:t>helm list + ingress: release deployed behind the AWS load balancer</a:t>
            </a:r>
            <a:endParaRPr lang="en-US" sz="1100" dirty="0"/>
          </a:p>
        </p:txBody>
      </p:sp>
      <p:sp>
        <p:nvSpPr>
          <p:cNvPr id="33" name="Text 29"/>
          <p:cNvSpPr txBox="1"/>
          <p:nvPr/>
        </p:nvSpPr>
        <p:spPr>
          <a:xfrm>
            <a:off x="5852160" y="4663440"/>
            <a:ext cx="5760720" cy="14630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helm upgrade --install with the commit SHA as image tag</a:t>
            </a:r>
            <a:endParaRPr lang="en-US" sz="1400" dirty="0"/>
          </a:p>
          <a:p>
            <a:pPr marL="203200" indent="-203200">
              <a:spcAft>
                <a:spcPts val="800"/>
              </a:spcAft>
              <a:buSzPct val="100000"/>
              <a:buChar char="•"/>
            </a:pPr>
            <a:r>
              <a:rPr lang="en-US" sz="1400" dirty="0">
                <a:solidFill>
                  <a:schemeClr val="tx1"/>
                </a:solidFill>
              </a:rPr>
              <a:t>helm rollback returns to any previous revision</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Autoscaling under load</a:t>
            </a:r>
            <a:endParaRPr lang="en-US" sz="3000" dirty="0"/>
          </a:p>
        </p:txBody>
      </p:sp>
      <p:sp>
        <p:nvSpPr>
          <p:cNvPr id="3" name="Shape 1"/>
          <p:cNvSpPr/>
          <p:nvPr/>
        </p:nvSpPr>
        <p:spPr>
          <a:xfrm>
            <a:off x="548640" y="1325880"/>
            <a:ext cx="3566160" cy="1691640"/>
          </a:xfrm>
          <a:prstGeom prst="roundRect">
            <a:avLst>
              <a:gd name="adj" fmla="val 4324"/>
            </a:avLst>
          </a:prstGeom>
          <a:solidFill>
            <a:schemeClr val="bg2"/>
          </a:solidFill>
          <a:ln w="6350">
            <a:solidFill>
              <a:schemeClr val="bg2"/>
            </a:solidFill>
            <a:prstDash val="solid"/>
          </a:ln>
        </p:spPr>
      </p:sp>
      <p:sp>
        <p:nvSpPr>
          <p:cNvPr id="4" name="Text 2"/>
          <p:cNvSpPr txBox="1"/>
          <p:nvPr/>
        </p:nvSpPr>
        <p:spPr>
          <a:xfrm>
            <a:off x="822960" y="1371600"/>
            <a:ext cx="3108960" cy="86868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2 → 6</a:t>
            </a:r>
            <a:endParaRPr lang="en-US" sz="4800" dirty="0"/>
          </a:p>
        </p:txBody>
      </p:sp>
      <p:sp>
        <p:nvSpPr>
          <p:cNvPr id="5" name="Text 3"/>
          <p:cNvSpPr txBox="1"/>
          <p:nvPr/>
        </p:nvSpPr>
        <p:spPr>
          <a:xfrm>
            <a:off x="822960" y="2267712"/>
            <a:ext cx="3108960" cy="548640"/>
          </a:xfrm>
          <a:prstGeom prst="rect">
            <a:avLst/>
          </a:prstGeom>
          <a:noFill/>
          <a:ln/>
        </p:spPr>
        <p:txBody>
          <a:bodyPr wrap="square" lIns="0" tIns="0" rIns="0" bIns="0" rtlCol="0" anchor="t"/>
          <a:lstStyle/>
          <a:p>
            <a:pPr indent="0" marL="0">
              <a:buNone/>
            </a:pPr>
            <a:r>
              <a:rPr lang="en-US" sz="1400" dirty="0">
                <a:solidFill>
                  <a:schemeClr val="tx2"/>
                </a:solidFill>
              </a:rPr>
              <a:t>backend pods within a minute</a:t>
            </a:r>
            <a:endParaRPr lang="en-US" sz="1400" dirty="0"/>
          </a:p>
        </p:txBody>
      </p:sp>
      <p:sp>
        <p:nvSpPr>
          <p:cNvPr id="6" name="Shape 4"/>
          <p:cNvSpPr/>
          <p:nvPr/>
        </p:nvSpPr>
        <p:spPr>
          <a:xfrm>
            <a:off x="4343400" y="1325880"/>
            <a:ext cx="3566160" cy="1691640"/>
          </a:xfrm>
          <a:prstGeom prst="roundRect">
            <a:avLst>
              <a:gd name="adj" fmla="val 4324"/>
            </a:avLst>
          </a:prstGeom>
          <a:solidFill>
            <a:schemeClr val="bg2"/>
          </a:solidFill>
          <a:ln w="6350">
            <a:solidFill>
              <a:schemeClr val="bg2"/>
            </a:solidFill>
            <a:prstDash val="solid"/>
          </a:ln>
        </p:spPr>
      </p:sp>
      <p:sp>
        <p:nvSpPr>
          <p:cNvPr id="7" name="Text 5"/>
          <p:cNvSpPr txBox="1"/>
          <p:nvPr/>
        </p:nvSpPr>
        <p:spPr>
          <a:xfrm>
            <a:off x="4617720" y="1371600"/>
            <a:ext cx="3108960" cy="868680"/>
          </a:xfrm>
          <a:prstGeom prst="rect">
            <a:avLst/>
          </a:prstGeom>
          <a:noFill/>
          <a:ln/>
        </p:spPr>
        <p:txBody>
          <a:bodyPr wrap="square" lIns="0" tIns="0" rIns="0" bIns="0" rtlCol="0" anchor="b"/>
          <a:lstStyle/>
          <a:p>
            <a:pPr indent="0" marL="0">
              <a:buNone/>
            </a:pPr>
            <a:r>
              <a:rPr lang="en-US" sz="4800" b="1" dirty="0">
                <a:solidFill>
                  <a:schemeClr val="accent2"/>
                </a:solidFill>
                <a:latin typeface="Arial" pitchFamily="34" charset="0"/>
                <a:ea typeface="Arial" pitchFamily="34" charset="-122"/>
                <a:cs typeface="Arial" pitchFamily="34" charset="-120"/>
              </a:rPr>
              <a:t>437%</a:t>
            </a:r>
            <a:endParaRPr lang="en-US" sz="4800" dirty="0"/>
          </a:p>
        </p:txBody>
      </p:sp>
      <p:sp>
        <p:nvSpPr>
          <p:cNvPr id="8" name="Text 6"/>
          <p:cNvSpPr txBox="1"/>
          <p:nvPr/>
        </p:nvSpPr>
        <p:spPr>
          <a:xfrm>
            <a:off x="4617720" y="2267712"/>
            <a:ext cx="3108960" cy="548640"/>
          </a:xfrm>
          <a:prstGeom prst="rect">
            <a:avLst/>
          </a:prstGeom>
          <a:noFill/>
          <a:ln/>
        </p:spPr>
        <p:txBody>
          <a:bodyPr wrap="square" lIns="0" tIns="0" rIns="0" bIns="0" rtlCol="0" anchor="t"/>
          <a:lstStyle/>
          <a:p>
            <a:pPr indent="0" marL="0">
              <a:buNone/>
            </a:pPr>
            <a:r>
              <a:rPr lang="en-US" sz="1400" dirty="0">
                <a:solidFill>
                  <a:schemeClr val="tx2"/>
                </a:solidFill>
              </a:rPr>
              <a:t>peak CPU vs a 60% target</a:t>
            </a:r>
            <a:endParaRPr lang="en-US" sz="1400" dirty="0"/>
          </a:p>
        </p:txBody>
      </p:sp>
      <p:sp>
        <p:nvSpPr>
          <p:cNvPr id="9" name="Shape 7"/>
          <p:cNvSpPr/>
          <p:nvPr/>
        </p:nvSpPr>
        <p:spPr>
          <a:xfrm>
            <a:off x="8138160" y="1325880"/>
            <a:ext cx="3474720" cy="1691640"/>
          </a:xfrm>
          <a:prstGeom prst="roundRect">
            <a:avLst>
              <a:gd name="adj" fmla="val 4324"/>
            </a:avLst>
          </a:prstGeom>
          <a:solidFill>
            <a:schemeClr val="bg2"/>
          </a:solidFill>
          <a:ln w="6350">
            <a:solidFill>
              <a:schemeClr val="bg2"/>
            </a:solidFill>
            <a:prstDash val="solid"/>
          </a:ln>
        </p:spPr>
      </p:sp>
      <p:sp>
        <p:nvSpPr>
          <p:cNvPr id="10" name="Text 8"/>
          <p:cNvSpPr txBox="1"/>
          <p:nvPr/>
        </p:nvSpPr>
        <p:spPr>
          <a:xfrm>
            <a:off x="8412480" y="1371600"/>
            <a:ext cx="3017520" cy="868680"/>
          </a:xfrm>
          <a:prstGeom prst="rect">
            <a:avLst/>
          </a:prstGeom>
          <a:noFill/>
          <a:ln/>
        </p:spPr>
        <p:txBody>
          <a:bodyPr wrap="square" lIns="0" tIns="0" rIns="0" bIns="0" rtlCol="0" anchor="b"/>
          <a:lstStyle/>
          <a:p>
            <a:pPr indent="0" marL="0">
              <a:buNone/>
            </a:pPr>
            <a:r>
              <a:rPr lang="en-US" sz="4800" b="1" dirty="0">
                <a:solidFill>
                  <a:schemeClr val="accent3"/>
                </a:solidFill>
                <a:latin typeface="Arial" pitchFamily="34" charset="0"/>
                <a:ea typeface="Arial" pitchFamily="34" charset="-122"/>
                <a:cs typeface="Arial" pitchFamily="34" charset="-120"/>
              </a:rPr>
              <a:t>→ 2</a:t>
            </a:r>
            <a:endParaRPr lang="en-US" sz="4800" dirty="0"/>
          </a:p>
        </p:txBody>
      </p:sp>
      <p:sp>
        <p:nvSpPr>
          <p:cNvPr id="11" name="Text 9"/>
          <p:cNvSpPr txBox="1"/>
          <p:nvPr/>
        </p:nvSpPr>
        <p:spPr>
          <a:xfrm>
            <a:off x="8412480" y="2267712"/>
            <a:ext cx="3017520" cy="548640"/>
          </a:xfrm>
          <a:prstGeom prst="rect">
            <a:avLst/>
          </a:prstGeom>
          <a:noFill/>
          <a:ln/>
        </p:spPr>
        <p:txBody>
          <a:bodyPr wrap="square" lIns="0" tIns="0" rIns="0" bIns="0" rtlCol="0" anchor="t"/>
          <a:lstStyle/>
          <a:p>
            <a:pPr indent="0" marL="0">
              <a:buNone/>
            </a:pPr>
            <a:r>
              <a:rPr lang="en-US" sz="1400" dirty="0">
                <a:solidFill>
                  <a:schemeClr val="tx2"/>
                </a:solidFill>
              </a:rPr>
              <a:t>scaled back in after the load stopped</a:t>
            </a:r>
            <a:endParaRPr lang="en-US" sz="1400" dirty="0"/>
          </a:p>
        </p:txBody>
      </p:sp>
      <p:sp>
        <p:nvSpPr>
          <p:cNvPr id="12" name="frame 13b-hpa-scale-down.png"/>
          <p:cNvSpPr/>
          <p:nvPr/>
        </p:nvSpPr>
        <p:spPr>
          <a:xfrm>
            <a:off x="526006" y="3346704"/>
            <a:ext cx="11109508" cy="2770632"/>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13" name="13b-hpa-scale-down.png" descr="13b-hpa-scale-down.png">    </p:cNvPr>
          <p:cNvPicPr>
            <a:picLocks noChangeAspect="1"/>
          </p:cNvPicPr>
          <p:nvPr/>
        </p:nvPicPr>
        <p:blipFill>
          <a:blip r:embed="rId1"/>
          <a:stretch>
            <a:fillRect/>
          </a:stretch>
        </p:blipFill>
        <p:spPr>
          <a:xfrm>
            <a:off x="562582" y="3383280"/>
            <a:ext cx="11036356" cy="269748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Observability: Prometheus + Grafana</a:t>
            </a:r>
            <a:endParaRPr lang="en-US" sz="3000" dirty="0"/>
          </a:p>
        </p:txBody>
      </p:sp>
      <p:sp>
        <p:nvSpPr>
          <p:cNvPr id="3" name="frame 15-prometheus-targets.png"/>
          <p:cNvSpPr/>
          <p:nvPr/>
        </p:nvSpPr>
        <p:spPr>
          <a:xfrm>
            <a:off x="512064" y="1303341"/>
            <a:ext cx="5513832" cy="3382637"/>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4" name="15-prometheus-targets.png" descr="15-prometheus-targets.png">    </p:cNvPr>
          <p:cNvPicPr>
            <a:picLocks noChangeAspect="1"/>
          </p:cNvPicPr>
          <p:nvPr/>
        </p:nvPicPr>
        <p:blipFill>
          <a:blip r:embed="rId1"/>
          <a:stretch>
            <a:fillRect/>
          </a:stretch>
        </p:blipFill>
        <p:spPr>
          <a:xfrm>
            <a:off x="548640" y="1339917"/>
            <a:ext cx="5440680" cy="3309485"/>
          </a:xfrm>
          <a:prstGeom prst="rect">
            <a:avLst/>
          </a:prstGeom>
        </p:spPr>
      </p:pic>
      <p:sp>
        <p:nvSpPr>
          <p:cNvPr id="5" name="frame 16-grafana.png"/>
          <p:cNvSpPr/>
          <p:nvPr/>
        </p:nvSpPr>
        <p:spPr>
          <a:xfrm>
            <a:off x="6135624" y="1325880"/>
            <a:ext cx="5513832" cy="3337560"/>
          </a:xfrm>
          <a:prstGeom prst="rect">
            <a:avLst/>
          </a:prstGeom>
          <a:solidFill>
            <a:schemeClr val="bg1"/>
          </a:solidFill>
          <a:ln w="12700">
            <a:solidFill>
              <a:srgbClr val="CBD5E1"/>
            </a:solidFill>
            <a:prstDash val="solid"/>
          </a:ln>
          <a:effectLst>
            <a:outerShdw sx="100000" sy="100000" kx="0" ky="0" algn="bl" rotWithShape="0" blurRad="101600" dist="25400" dir="5400000">
              <a:srgbClr val="0F172A">
                <a:alpha val="18000"/>
              </a:srgbClr>
            </a:outerShdw>
          </a:effectLst>
        </p:spPr>
      </p:sp>
      <p:pic>
        <p:nvPicPr>
          <p:cNvPr id="6" name="16-grafana.png" descr="16-grafana.png">    </p:cNvPr>
          <p:cNvPicPr>
            <a:picLocks noChangeAspect="1"/>
          </p:cNvPicPr>
          <p:nvPr/>
        </p:nvPicPr>
        <p:blipFill>
          <a:blip r:embed="rId2"/>
          <a:stretch>
            <a:fillRect/>
          </a:stretch>
        </p:blipFill>
        <p:spPr>
          <a:xfrm>
            <a:off x="6172200" y="1362456"/>
            <a:ext cx="5440680" cy="3264408"/>
          </a:xfrm>
          <a:prstGeom prst="rect">
            <a:avLst/>
          </a:prstGeom>
        </p:spPr>
      </p:pic>
      <p:sp>
        <p:nvSpPr>
          <p:cNvPr id="7" name="Text 3"/>
          <p:cNvSpPr txBox="1"/>
          <p:nvPr/>
        </p:nvSpPr>
        <p:spPr>
          <a:xfrm>
            <a:off x="548640" y="4773168"/>
            <a:ext cx="5440680" cy="274320"/>
          </a:xfrm>
          <a:prstGeom prst="rect">
            <a:avLst/>
          </a:prstGeom>
          <a:noFill/>
          <a:ln/>
        </p:spPr>
        <p:txBody>
          <a:bodyPr wrap="square" lIns="0" tIns="0" rIns="0" bIns="0" rtlCol="0" anchor="ctr"/>
          <a:lstStyle/>
          <a:p>
            <a:pPr algn="ctr" indent="0" marL="0">
              <a:buNone/>
            </a:pPr>
            <a:r>
              <a:rPr lang="en-US" sz="1100" i="1" dirty="0">
                <a:solidFill>
                  <a:schemeClr val="accent6"/>
                </a:solidFill>
              </a:rPr>
              <a:t>Prometheus: serviceMonitor/stockpilot-backend 2/2 UP</a:t>
            </a:r>
            <a:endParaRPr lang="en-US" sz="1100" dirty="0"/>
          </a:p>
        </p:txBody>
      </p:sp>
      <p:sp>
        <p:nvSpPr>
          <p:cNvPr id="8" name="Text 4"/>
          <p:cNvSpPr txBox="1"/>
          <p:nvPr/>
        </p:nvSpPr>
        <p:spPr>
          <a:xfrm>
            <a:off x="6172200" y="4773168"/>
            <a:ext cx="5440680" cy="274320"/>
          </a:xfrm>
          <a:prstGeom prst="rect">
            <a:avLst/>
          </a:prstGeom>
          <a:noFill/>
          <a:ln/>
        </p:spPr>
        <p:txBody>
          <a:bodyPr wrap="square" lIns="0" tIns="0" rIns="0" bIns="0" rtlCol="0" anchor="ctr"/>
          <a:lstStyle/>
          <a:p>
            <a:pPr algn="ctr" indent="0" marL="0">
              <a:buNone/>
            </a:pPr>
            <a:r>
              <a:rPr lang="en-US" sz="1100" i="1" dirty="0">
                <a:solidFill>
                  <a:schemeClr val="accent6"/>
                </a:solidFill>
              </a:rPr>
              <a:t>Grafana: ~450 req/s spike, p95 latency, 0% 5xx, CPU per pod</a:t>
            </a:r>
            <a:endParaRPr lang="en-US" sz="1100" dirty="0"/>
          </a:p>
        </p:txBody>
      </p:sp>
      <p:sp>
        <p:nvSpPr>
          <p:cNvPr id="9" name="Text 5"/>
          <p:cNvSpPr txBox="1"/>
          <p:nvPr/>
        </p:nvSpPr>
        <p:spPr>
          <a:xfrm>
            <a:off x="548640" y="5166360"/>
            <a:ext cx="11064240" cy="1143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Backend exposes /metrics: request rate, latency histograms, status codes</a:t>
            </a:r>
            <a:endParaRPr lang="en-US" sz="1500" dirty="0"/>
          </a:p>
          <a:p>
            <a:pPr marL="203200" indent="-203200">
              <a:spcAft>
                <a:spcPts val="800"/>
              </a:spcAft>
              <a:buSzPct val="100000"/>
              <a:buChar char="•"/>
            </a:pPr>
            <a:r>
              <a:rPr lang="en-US" sz="1500" dirty="0">
                <a:solidFill>
                  <a:schemeClr val="tx1"/>
                </a:solidFill>
              </a:rPr>
              <a:t>Custom business counters: stock adjustments by reason, units moved in/out</a:t>
            </a:r>
            <a:endParaRPr lang="en-US" sz="1500" dirty="0"/>
          </a:p>
          <a:p>
            <a:pPr marL="203200" indent="-203200">
              <a:spcAft>
                <a:spcPts val="800"/>
              </a:spcAft>
              <a:buSzPct val="100000"/>
              <a:buChar char="•"/>
            </a:pPr>
            <a:r>
              <a:rPr lang="en-US" sz="1500" dirty="0">
                <a:solidFill>
                  <a:schemeClr val="tx1"/>
                </a:solidFill>
              </a:rPr>
              <a:t>Dashboard ships in the Helm chart, so Grafana loads it automatically</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Real-world problems I hit and fixed</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91840"/>
                <a:gridCol w="4572000"/>
                <a:gridCol w="3200400"/>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Symptom</a:t>
                      </a:r>
                      <a:endParaRPr lang="en-US" sz="14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Root cause</a:t>
                      </a:r>
                      <a:endParaRPr lang="en-US" sz="14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r>
              <a:tr h="56692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Every region but one denied (SCP)</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AWS Free-plan accounts are locked to their home region</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Moved to ap-southeast-2</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Worker nodes never launched</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t3.medium is not Free Tier eligible</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c7i-flex.large (eligible, same size)</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IAM OIDC provider denied</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Free plan blocks it; module enables IRSA by default</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Disabled IRSA, used EKS Pod Identity</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~50% of requests timed out</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Nodes only allowed ports 1025–65535; ingress-nginx is on :80 on the other node</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Allow all node-to-node traffic</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HPA showed cpu &lt;unknown&gt;</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Control plane could not reach metrics-server on :10251</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Security group rule in Terraform</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Backend restarted twice at start</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Started before Postgres was ready</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Probes + restarts self-heal; documented</a:t>
                      </a:r>
                      <a:endParaRPr lang="en-US" sz="1300" dirty="0">
                        <a:latin typeface="Calibri" charset="0"/>
                        <a:ea typeface="Calibri" charset="0"/>
                        <a:cs typeface="Calibri" charset="0"/>
                      </a:endParaRPr>
                    </a:p>
                  </a:txBody>
                  <a:tcPr marL="109728" marR="109728"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500" i="1" dirty="0">
                <a:solidFill>
                  <a:schemeClr val="accent2"/>
                </a:solidFill>
              </a:rPr>
              <a:t>All fixes live in code (Terraform and Dockerfiles), not console clicks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Troubleshooting lab: five broken manifests</a:t>
            </a:r>
            <a:endParaRPr lang="en-US" sz="3000" dirty="0"/>
          </a:p>
        </p:txBody>
      </p:sp>
      <p:sp>
        <p:nvSpPr>
          <p:cNvPr id="3" name="Shape 1"/>
          <p:cNvSpPr/>
          <p:nvPr/>
        </p:nvSpPr>
        <p:spPr>
          <a:xfrm>
            <a:off x="548640" y="1325880"/>
            <a:ext cx="3520440" cy="2148840"/>
          </a:xfrm>
          <a:prstGeom prst="roundRect">
            <a:avLst>
              <a:gd name="adj" fmla="val 3404"/>
            </a:avLst>
          </a:prstGeom>
          <a:solidFill>
            <a:schemeClr val="bg2"/>
          </a:solidFill>
          <a:ln w="6350">
            <a:solidFill>
              <a:schemeClr val="bg2"/>
            </a:solidFill>
            <a:prstDash val="solid"/>
          </a:ln>
        </p:spPr>
      </p:sp>
      <p:sp>
        <p:nvSpPr>
          <p:cNvPr id="4" name="Shape 2"/>
          <p:cNvSpPr/>
          <p:nvPr/>
        </p:nvSpPr>
        <p:spPr>
          <a:xfrm>
            <a:off x="731520" y="1508760"/>
            <a:ext cx="411480" cy="411480"/>
          </a:xfrm>
          <a:prstGeom prst="ellipse">
            <a:avLst/>
          </a:prstGeom>
          <a:solidFill>
            <a:schemeClr val="accent2"/>
          </a:solidFill>
          <a:ln w="6350">
            <a:solidFill>
              <a:schemeClr val="accent2"/>
            </a:solidFill>
            <a:prstDash val="solid"/>
          </a:ln>
        </p:spPr>
      </p:sp>
      <p:sp>
        <p:nvSpPr>
          <p:cNvPr id="5" name="Text 3"/>
          <p:cNvSpPr txBox="1"/>
          <p:nvPr/>
        </p:nvSpPr>
        <p:spPr>
          <a:xfrm>
            <a:off x="731520" y="15087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490472"/>
            <a:ext cx="2651760" cy="4572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ImagePullBackOff</a:t>
            </a:r>
            <a:endParaRPr lang="en-US" sz="1600" dirty="0"/>
          </a:p>
        </p:txBody>
      </p:sp>
      <p:sp>
        <p:nvSpPr>
          <p:cNvPr id="7" name="Text 5"/>
          <p:cNvSpPr txBox="1"/>
          <p:nvPr/>
        </p:nvSpPr>
        <p:spPr>
          <a:xfrm>
            <a:off x="731520" y="2103120"/>
            <a:ext cx="3154680" cy="640080"/>
          </a:xfrm>
          <a:prstGeom prst="rect">
            <a:avLst/>
          </a:prstGeom>
          <a:noFill/>
          <a:ln/>
        </p:spPr>
        <p:txBody>
          <a:bodyPr wrap="square" lIns="0" tIns="0" rIns="0" bIns="0" rtlCol="0" anchor="t"/>
          <a:lstStyle/>
          <a:p>
            <a:pPr indent="0" marL="0">
              <a:buNone/>
            </a:pPr>
            <a:r>
              <a:rPr lang="en-US" sz="1400" dirty="0">
                <a:solidFill>
                  <a:schemeClr val="tx2"/>
                </a:solidFill>
              </a:rPr>
              <a:t>Image tag does not exist</a:t>
            </a:r>
            <a:endParaRPr lang="en-US" sz="1400" dirty="0"/>
          </a:p>
        </p:txBody>
      </p:sp>
      <p:sp>
        <p:nvSpPr>
          <p:cNvPr id="8" name="Text 6"/>
          <p:cNvSpPr txBox="1"/>
          <p:nvPr/>
        </p:nvSpPr>
        <p:spPr>
          <a:xfrm>
            <a:off x="731520" y="2788920"/>
            <a:ext cx="3154680" cy="54864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kubectl describe pod → Events</a:t>
            </a:r>
            <a:endParaRPr lang="en-US" sz="1100" dirty="0"/>
          </a:p>
        </p:txBody>
      </p:sp>
      <p:sp>
        <p:nvSpPr>
          <p:cNvPr id="9" name="Shape 7"/>
          <p:cNvSpPr/>
          <p:nvPr/>
        </p:nvSpPr>
        <p:spPr>
          <a:xfrm>
            <a:off x="4297680" y="1325880"/>
            <a:ext cx="3520440" cy="2148840"/>
          </a:xfrm>
          <a:prstGeom prst="roundRect">
            <a:avLst>
              <a:gd name="adj" fmla="val 3404"/>
            </a:avLst>
          </a:prstGeom>
          <a:solidFill>
            <a:schemeClr val="bg2"/>
          </a:solidFill>
          <a:ln w="6350">
            <a:solidFill>
              <a:schemeClr val="bg2"/>
            </a:solidFill>
            <a:prstDash val="solid"/>
          </a:ln>
        </p:spPr>
      </p:sp>
      <p:sp>
        <p:nvSpPr>
          <p:cNvPr id="10" name="Shape 8"/>
          <p:cNvSpPr/>
          <p:nvPr/>
        </p:nvSpPr>
        <p:spPr>
          <a:xfrm>
            <a:off x="4480560" y="1508760"/>
            <a:ext cx="411480" cy="411480"/>
          </a:xfrm>
          <a:prstGeom prst="ellipse">
            <a:avLst/>
          </a:prstGeom>
          <a:solidFill>
            <a:schemeClr val="accent2"/>
          </a:solidFill>
          <a:ln w="6350">
            <a:solidFill>
              <a:schemeClr val="accent2"/>
            </a:solidFill>
            <a:prstDash val="solid"/>
          </a:ln>
        </p:spPr>
      </p:sp>
      <p:sp>
        <p:nvSpPr>
          <p:cNvPr id="11" name="Text 9"/>
          <p:cNvSpPr txBox="1"/>
          <p:nvPr/>
        </p:nvSpPr>
        <p:spPr>
          <a:xfrm>
            <a:off x="4480560" y="15087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5029200" y="1490472"/>
            <a:ext cx="2651760" cy="4572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Service has no endpoints</a:t>
            </a:r>
            <a:endParaRPr lang="en-US" sz="1600" dirty="0"/>
          </a:p>
        </p:txBody>
      </p:sp>
      <p:sp>
        <p:nvSpPr>
          <p:cNvPr id="13" name="Text 11"/>
          <p:cNvSpPr txBox="1"/>
          <p:nvPr/>
        </p:nvSpPr>
        <p:spPr>
          <a:xfrm>
            <a:off x="4480560" y="2103120"/>
            <a:ext cx="3154680" cy="640080"/>
          </a:xfrm>
          <a:prstGeom prst="rect">
            <a:avLst/>
          </a:prstGeom>
          <a:noFill/>
          <a:ln/>
        </p:spPr>
        <p:txBody>
          <a:bodyPr wrap="square" lIns="0" tIns="0" rIns="0" bIns="0" rtlCol="0" anchor="t"/>
          <a:lstStyle/>
          <a:p>
            <a:pPr indent="0" marL="0">
              <a:buNone/>
            </a:pPr>
            <a:r>
              <a:rPr lang="en-US" sz="1400" dirty="0">
                <a:solidFill>
                  <a:schemeClr val="tx2"/>
                </a:solidFill>
              </a:rPr>
              <a:t>Selector matches no Pod labels</a:t>
            </a:r>
            <a:endParaRPr lang="en-US" sz="1400" dirty="0"/>
          </a:p>
        </p:txBody>
      </p:sp>
      <p:sp>
        <p:nvSpPr>
          <p:cNvPr id="14" name="Text 12"/>
          <p:cNvSpPr txBox="1"/>
          <p:nvPr/>
        </p:nvSpPr>
        <p:spPr>
          <a:xfrm>
            <a:off x="4480560" y="2788920"/>
            <a:ext cx="3154680" cy="54864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kubectl get endpointslices</a:t>
            </a:r>
            <a:endParaRPr lang="en-US" sz="1100" dirty="0"/>
          </a:p>
        </p:txBody>
      </p:sp>
      <p:sp>
        <p:nvSpPr>
          <p:cNvPr id="15" name="Shape 13"/>
          <p:cNvSpPr/>
          <p:nvPr/>
        </p:nvSpPr>
        <p:spPr>
          <a:xfrm>
            <a:off x="8046720" y="1325880"/>
            <a:ext cx="3520440" cy="2148840"/>
          </a:xfrm>
          <a:prstGeom prst="roundRect">
            <a:avLst>
              <a:gd name="adj" fmla="val 3404"/>
            </a:avLst>
          </a:prstGeom>
          <a:solidFill>
            <a:schemeClr val="bg2"/>
          </a:solidFill>
          <a:ln w="6350">
            <a:solidFill>
              <a:schemeClr val="bg2"/>
            </a:solidFill>
            <a:prstDash val="solid"/>
          </a:ln>
        </p:spPr>
      </p:sp>
      <p:sp>
        <p:nvSpPr>
          <p:cNvPr id="16" name="Shape 14"/>
          <p:cNvSpPr/>
          <p:nvPr/>
        </p:nvSpPr>
        <p:spPr>
          <a:xfrm>
            <a:off x="8229600" y="1508760"/>
            <a:ext cx="411480" cy="411480"/>
          </a:xfrm>
          <a:prstGeom prst="ellipse">
            <a:avLst/>
          </a:prstGeom>
          <a:solidFill>
            <a:schemeClr val="accent2"/>
          </a:solidFill>
          <a:ln w="6350">
            <a:solidFill>
              <a:schemeClr val="accent2"/>
            </a:solidFill>
            <a:prstDash val="solid"/>
          </a:ln>
        </p:spPr>
      </p:sp>
      <p:sp>
        <p:nvSpPr>
          <p:cNvPr id="17" name="Text 15"/>
          <p:cNvSpPr txBox="1"/>
          <p:nvPr/>
        </p:nvSpPr>
        <p:spPr>
          <a:xfrm>
            <a:off x="8229600" y="15087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8778240" y="1490472"/>
            <a:ext cx="2651760" cy="4572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CrashLoopBackOff</a:t>
            </a:r>
            <a:endParaRPr lang="en-US" sz="1600" dirty="0"/>
          </a:p>
        </p:txBody>
      </p:sp>
      <p:sp>
        <p:nvSpPr>
          <p:cNvPr id="19" name="Text 17"/>
          <p:cNvSpPr txBox="1"/>
          <p:nvPr/>
        </p:nvSpPr>
        <p:spPr>
          <a:xfrm>
            <a:off x="8229600" y="2103120"/>
            <a:ext cx="3154680" cy="640080"/>
          </a:xfrm>
          <a:prstGeom prst="rect">
            <a:avLst/>
          </a:prstGeom>
          <a:noFill/>
          <a:ln/>
        </p:spPr>
        <p:txBody>
          <a:bodyPr wrap="square" lIns="0" tIns="0" rIns="0" bIns="0" rtlCol="0" anchor="t"/>
          <a:lstStyle/>
          <a:p>
            <a:pPr indent="0" marL="0">
              <a:buNone/>
            </a:pPr>
            <a:r>
              <a:rPr lang="en-US" sz="1400" dirty="0">
                <a:solidFill>
                  <a:schemeClr val="tx2"/>
                </a:solidFill>
              </a:rPr>
              <a:t>Wrong database host in DATABASE_URL</a:t>
            </a:r>
            <a:endParaRPr lang="en-US" sz="1400" dirty="0"/>
          </a:p>
        </p:txBody>
      </p:sp>
      <p:sp>
        <p:nvSpPr>
          <p:cNvPr id="20" name="Text 18"/>
          <p:cNvSpPr txBox="1"/>
          <p:nvPr/>
        </p:nvSpPr>
        <p:spPr>
          <a:xfrm>
            <a:off x="8229600" y="2788920"/>
            <a:ext cx="3154680" cy="54864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kubectl logs --previous</a:t>
            </a:r>
            <a:endParaRPr lang="en-US" sz="1100" dirty="0"/>
          </a:p>
        </p:txBody>
      </p:sp>
      <p:sp>
        <p:nvSpPr>
          <p:cNvPr id="21" name="Shape 19"/>
          <p:cNvSpPr/>
          <p:nvPr/>
        </p:nvSpPr>
        <p:spPr>
          <a:xfrm>
            <a:off x="548640" y="3703320"/>
            <a:ext cx="3520440" cy="2148840"/>
          </a:xfrm>
          <a:prstGeom prst="roundRect">
            <a:avLst>
              <a:gd name="adj" fmla="val 3404"/>
            </a:avLst>
          </a:prstGeom>
          <a:solidFill>
            <a:schemeClr val="bg2"/>
          </a:solidFill>
          <a:ln w="6350">
            <a:solidFill>
              <a:schemeClr val="bg2"/>
            </a:solidFill>
            <a:prstDash val="solid"/>
          </a:ln>
        </p:spPr>
      </p:sp>
      <p:sp>
        <p:nvSpPr>
          <p:cNvPr id="22" name="Shape 20"/>
          <p:cNvSpPr/>
          <p:nvPr/>
        </p:nvSpPr>
        <p:spPr>
          <a:xfrm>
            <a:off x="731520" y="3886200"/>
            <a:ext cx="411480" cy="411480"/>
          </a:xfrm>
          <a:prstGeom prst="ellipse">
            <a:avLst/>
          </a:prstGeom>
          <a:solidFill>
            <a:schemeClr val="accent2"/>
          </a:solidFill>
          <a:ln w="6350">
            <a:solidFill>
              <a:schemeClr val="accent2"/>
            </a:solidFill>
            <a:prstDash val="solid"/>
          </a:ln>
        </p:spPr>
      </p:sp>
      <p:sp>
        <p:nvSpPr>
          <p:cNvPr id="23" name="Text 21"/>
          <p:cNvSpPr txBox="1"/>
          <p:nvPr/>
        </p:nvSpPr>
        <p:spPr>
          <a:xfrm>
            <a:off x="731520" y="3886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4</a:t>
            </a:r>
            <a:endParaRPr lang="en-US" sz="1600" dirty="0"/>
          </a:p>
        </p:txBody>
      </p:sp>
      <p:sp>
        <p:nvSpPr>
          <p:cNvPr id="24" name="Text 22"/>
          <p:cNvSpPr txBox="1"/>
          <p:nvPr/>
        </p:nvSpPr>
        <p:spPr>
          <a:xfrm>
            <a:off x="1280160" y="3867912"/>
            <a:ext cx="2651760" cy="4572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Running but 0/1 Ready</a:t>
            </a:r>
            <a:endParaRPr lang="en-US" sz="1600" dirty="0"/>
          </a:p>
        </p:txBody>
      </p:sp>
      <p:sp>
        <p:nvSpPr>
          <p:cNvPr id="25" name="Text 23"/>
          <p:cNvSpPr txBox="1"/>
          <p:nvPr/>
        </p:nvSpPr>
        <p:spPr>
          <a:xfrm>
            <a:off x="731520" y="4480560"/>
            <a:ext cx="3154680" cy="640080"/>
          </a:xfrm>
          <a:prstGeom prst="rect">
            <a:avLst/>
          </a:prstGeom>
          <a:noFill/>
          <a:ln/>
        </p:spPr>
        <p:txBody>
          <a:bodyPr wrap="square" lIns="0" tIns="0" rIns="0" bIns="0" rtlCol="0" anchor="t"/>
          <a:lstStyle/>
          <a:p>
            <a:pPr indent="0" marL="0">
              <a:buNone/>
            </a:pPr>
            <a:r>
              <a:rPr lang="en-US" sz="1400" dirty="0">
                <a:solidFill>
                  <a:schemeClr val="tx2"/>
                </a:solidFill>
              </a:rPr>
              <a:t>Readiness probe path returns 404</a:t>
            </a:r>
            <a:endParaRPr lang="en-US" sz="1400" dirty="0"/>
          </a:p>
        </p:txBody>
      </p:sp>
      <p:sp>
        <p:nvSpPr>
          <p:cNvPr id="26" name="Text 24"/>
          <p:cNvSpPr txBox="1"/>
          <p:nvPr/>
        </p:nvSpPr>
        <p:spPr>
          <a:xfrm>
            <a:off x="731520" y="5166360"/>
            <a:ext cx="3154680" cy="54864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kubectl describe pod → probe failures</a:t>
            </a:r>
            <a:endParaRPr lang="en-US" sz="1100" dirty="0"/>
          </a:p>
        </p:txBody>
      </p:sp>
      <p:sp>
        <p:nvSpPr>
          <p:cNvPr id="27" name="Shape 25"/>
          <p:cNvSpPr/>
          <p:nvPr/>
        </p:nvSpPr>
        <p:spPr>
          <a:xfrm>
            <a:off x="4297680" y="3703320"/>
            <a:ext cx="3520440" cy="2148840"/>
          </a:xfrm>
          <a:prstGeom prst="roundRect">
            <a:avLst>
              <a:gd name="adj" fmla="val 3404"/>
            </a:avLst>
          </a:prstGeom>
          <a:solidFill>
            <a:schemeClr val="bg2"/>
          </a:solidFill>
          <a:ln w="6350">
            <a:solidFill>
              <a:schemeClr val="bg2"/>
            </a:solidFill>
            <a:prstDash val="solid"/>
          </a:ln>
        </p:spPr>
      </p:sp>
      <p:sp>
        <p:nvSpPr>
          <p:cNvPr id="28" name="Shape 26"/>
          <p:cNvSpPr/>
          <p:nvPr/>
        </p:nvSpPr>
        <p:spPr>
          <a:xfrm>
            <a:off x="4480560" y="3886200"/>
            <a:ext cx="411480" cy="411480"/>
          </a:xfrm>
          <a:prstGeom prst="ellipse">
            <a:avLst/>
          </a:prstGeom>
          <a:solidFill>
            <a:schemeClr val="accent2"/>
          </a:solidFill>
          <a:ln w="6350">
            <a:solidFill>
              <a:schemeClr val="accent2"/>
            </a:solidFill>
            <a:prstDash val="solid"/>
          </a:ln>
        </p:spPr>
      </p:sp>
      <p:sp>
        <p:nvSpPr>
          <p:cNvPr id="29" name="Text 27"/>
          <p:cNvSpPr txBox="1"/>
          <p:nvPr/>
        </p:nvSpPr>
        <p:spPr>
          <a:xfrm>
            <a:off x="4480560" y="3886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5</a:t>
            </a:r>
            <a:endParaRPr lang="en-US" sz="1600" dirty="0"/>
          </a:p>
        </p:txBody>
      </p:sp>
      <p:sp>
        <p:nvSpPr>
          <p:cNvPr id="30" name="Text 28"/>
          <p:cNvSpPr txBox="1"/>
          <p:nvPr/>
        </p:nvSpPr>
        <p:spPr>
          <a:xfrm>
            <a:off x="5029200" y="3867912"/>
            <a:ext cx="2651760" cy="4572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Pending forever</a:t>
            </a:r>
            <a:endParaRPr lang="en-US" sz="1600" dirty="0"/>
          </a:p>
        </p:txBody>
      </p:sp>
      <p:sp>
        <p:nvSpPr>
          <p:cNvPr id="31" name="Text 29"/>
          <p:cNvSpPr txBox="1"/>
          <p:nvPr/>
        </p:nvSpPr>
        <p:spPr>
          <a:xfrm>
            <a:off x="4480560" y="4480560"/>
            <a:ext cx="3154680" cy="640080"/>
          </a:xfrm>
          <a:prstGeom prst="rect">
            <a:avLst/>
          </a:prstGeom>
          <a:noFill/>
          <a:ln/>
        </p:spPr>
        <p:txBody>
          <a:bodyPr wrap="square" lIns="0" tIns="0" rIns="0" bIns="0" rtlCol="0" anchor="t"/>
          <a:lstStyle/>
          <a:p>
            <a:pPr indent="0" marL="0">
              <a:buNone/>
            </a:pPr>
            <a:r>
              <a:rPr lang="en-US" sz="1400" dirty="0">
                <a:solidFill>
                  <a:schemeClr val="tx2"/>
                </a:solidFill>
              </a:rPr>
              <a:t>Requests more CPU than any node has</a:t>
            </a:r>
            <a:endParaRPr lang="en-US" sz="1400" dirty="0"/>
          </a:p>
        </p:txBody>
      </p:sp>
      <p:sp>
        <p:nvSpPr>
          <p:cNvPr id="32" name="Text 30"/>
          <p:cNvSpPr txBox="1"/>
          <p:nvPr/>
        </p:nvSpPr>
        <p:spPr>
          <a:xfrm>
            <a:off x="4480560" y="5166360"/>
            <a:ext cx="3154680" cy="54864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describe → Insufficient cpu</a:t>
            </a:r>
            <a:endParaRPr lang="en-US" sz="1100" dirty="0"/>
          </a:p>
        </p:txBody>
      </p:sp>
      <p:sp>
        <p:nvSpPr>
          <p:cNvPr id="33" name="Shape 31"/>
          <p:cNvSpPr/>
          <p:nvPr/>
        </p:nvSpPr>
        <p:spPr>
          <a:xfrm>
            <a:off x="8046720" y="3703320"/>
            <a:ext cx="3566160" cy="2148840"/>
          </a:xfrm>
          <a:prstGeom prst="roundRect">
            <a:avLst>
              <a:gd name="adj" fmla="val 3404"/>
            </a:avLst>
          </a:prstGeom>
          <a:solidFill>
            <a:schemeClr val="tx1"/>
          </a:solidFill>
          <a:ln w="6350">
            <a:solidFill>
              <a:schemeClr val="tx1"/>
            </a:solidFill>
            <a:prstDash val="solid"/>
          </a:ln>
        </p:spPr>
      </p:sp>
      <p:sp>
        <p:nvSpPr>
          <p:cNvPr id="34" name="Text 32"/>
          <p:cNvSpPr txBox="1"/>
          <p:nvPr/>
        </p:nvSpPr>
        <p:spPr>
          <a:xfrm>
            <a:off x="8229600" y="3840480"/>
            <a:ext cx="3200400" cy="1874520"/>
          </a:xfrm>
          <a:prstGeom prst="rect">
            <a:avLst/>
          </a:prstGeom>
          <a:noFill/>
          <a:ln/>
        </p:spPr>
        <p:txBody>
          <a:bodyPr wrap="square" lIns="0" tIns="0" rIns="0" bIns="0" rtlCol="0" anchor="ctr"/>
          <a:lstStyle/>
          <a:p>
            <a:pPr indent="0" marL="0">
              <a:buNone/>
            </a:pPr>
            <a:r>
              <a:rPr lang="en-US" sz="1600" b="1" dirty="0">
                <a:solidFill>
                  <a:schemeClr val="bg1"/>
                </a:solidFill>
              </a:rPr>
              <a:t>Workflow</a:t>
            </a:r>
            <a:endParaRPr lang="en-US" sz="1600" dirty="0"/>
          </a:p>
          <a:p>
            <a:pPr indent="0" marL="0">
              <a:buNone/>
            </a:pPr>
            <a:r>
              <a:rPr lang="en-US" sz="1400" dirty="0">
                <a:solidFill>
                  <a:schemeClr val="bg2"/>
                </a:solidFill>
              </a:rPr>
              <a:t>get pods → describe → logs → events → fix → re-apply</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486400" cy="1188720"/>
          </a:xfrm>
          <a:prstGeom prst="rect">
            <a:avLst/>
          </a:prstGeom>
          <a:noFill/>
          <a:ln/>
        </p:spPr>
        <p:txBody>
          <a:bodyPr wrap="square" lIns="0" tIns="0" rIns="0" bIns="0" rtlCol="0" anchor="b"/>
          <a:lstStyle/>
          <a:p>
            <a:pPr algn="l" indent="0" marL="0">
              <a:buNone/>
            </a:pPr>
            <a:r>
              <a:rPr lang="en-US" sz="5400" b="1" dirty="0">
                <a:solidFill>
                  <a:schemeClr val="bg1"/>
                </a:solidFill>
              </a:rPr>
              <a:t>Demo &amp; links</a:t>
            </a:r>
            <a:endParaRPr lang="en-US" sz="5400" dirty="0"/>
          </a:p>
        </p:txBody>
      </p:sp>
      <p:sp>
        <p:nvSpPr>
          <p:cNvPr id="3" name="Text 0"/>
          <p:cNvSpPr/>
          <p:nvPr>
            <p:ph idx="101" type="body" hasCustomPrompt="1"/>
          </p:nvPr>
        </p:nvSpPr>
        <p:spPr>
          <a:xfrm>
            <a:off x="640080" y="2651760"/>
            <a:ext cx="5486400" cy="1097280"/>
          </a:xfrm>
          <a:prstGeom prst="rect">
            <a:avLst/>
          </a:prstGeom>
          <a:noFill/>
          <a:ln/>
        </p:spPr>
        <p:txBody>
          <a:bodyPr wrap="square" lIns="0" tIns="0" rIns="0" bIns="0" rtlCol="0" anchor="t"/>
          <a:lstStyle/>
          <a:p>
            <a:pPr algn="l" indent="0" marL="0">
              <a:buNone/>
            </a:pPr>
            <a:r>
              <a:rPr lang="en-US" sz="2200" dirty="0">
                <a:solidFill>
                  <a:schemeClr val="accent1"/>
                </a:solidFill>
              </a:rPr>
              <a:t>Thank you</a:t>
            </a:r>
            <a:endParaRPr lang="en-US" sz="2200" dirty="0"/>
          </a:p>
        </p:txBody>
      </p:sp>
      <p:sp>
        <p:nvSpPr>
          <p:cNvPr id="4" name="Text 2"/>
          <p:cNvSpPr txBox="1"/>
          <p:nvPr/>
        </p:nvSpPr>
        <p:spPr>
          <a:xfrm>
            <a:off x="640080" y="3886200"/>
            <a:ext cx="6858000" cy="2011680"/>
          </a:xfrm>
          <a:prstGeom prst="rect">
            <a:avLst/>
          </a:prstGeom>
          <a:noFill/>
          <a:ln/>
        </p:spPr>
        <p:txBody>
          <a:bodyPr wrap="square" lIns="0" tIns="0" rIns="0" bIns="0" rtlCol="0" anchor="t"/>
          <a:lstStyle/>
          <a:p>
            <a:pPr indent="0" marL="0">
              <a:buNone/>
            </a:pPr>
            <a:r>
              <a:rPr lang="en-US" sz="1400" dirty="0">
                <a:solidFill>
                  <a:schemeClr val="accent6"/>
                </a:solidFill>
              </a:rPr>
              <a:t>Source code</a:t>
            </a:r>
            <a:endParaRPr lang="en-US" sz="1400" dirty="0"/>
          </a:p>
          <a:p>
            <a:pPr indent="0" marL="0">
              <a:buNone/>
            </a:pPr>
            <a:r>
              <a:rPr lang="en-US" sz="20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https://github.com/sarthakagarwal2060/stockpilot</a:t>
            </a:r>
            <a:endParaRPr lang="en-US" sz="1400" dirty="0"/>
          </a:p>
          <a:p>
            <a:pPr indent="0" marL="0">
              <a:buNone/>
            </a:pPr>
            <a:r>
              <a:rPr lang="en-US" sz="1000" dirty="0">
                <a:solidFill>
                  <a:srgbClr val="000000"/>
                </a:solidFill>
              </a:rPr>
              <a:t> </a:t>
            </a:r>
            <a:endParaRPr lang="en-US" sz="1400" dirty="0"/>
          </a:p>
          <a:p>
            <a:pPr indent="0" marL="0">
              <a:buNone/>
            </a:pPr>
            <a:r>
              <a:rPr lang="en-US" sz="2000" dirty="0">
                <a:solidFill>
                  <a:schemeClr val="bg1"/>
                </a:solidFill>
              </a:rPr>
              <a:t>Demo video: Google Drive link in README.md</a:t>
            </a:r>
            <a:endParaRPr lang="en-US" sz="1400" dirty="0"/>
          </a:p>
        </p:txBody>
      </p:sp>
      <p:sp>
        <p:nvSpPr>
          <p:cNvPr id="5" name="Shape 3"/>
          <p:cNvSpPr/>
          <p:nvPr/>
        </p:nvSpPr>
        <p:spPr>
          <a:xfrm>
            <a:off x="8138160" y="1371600"/>
            <a:ext cx="457200" cy="457200"/>
          </a:xfrm>
          <a:prstGeom prst="ellipse">
            <a:avLst/>
          </a:prstGeom>
          <a:solidFill>
            <a:schemeClr val="accent3"/>
          </a:solidFill>
          <a:ln w="6350">
            <a:solidFill>
              <a:schemeClr val="accent3"/>
            </a:solidFill>
            <a:prstDash val="solid"/>
          </a:ln>
        </p:spPr>
      </p:sp>
      <p:sp>
        <p:nvSpPr>
          <p:cNvPr id="6" name="Text 4"/>
          <p:cNvSpPr txBox="1"/>
          <p:nvPr/>
        </p:nvSpPr>
        <p:spPr>
          <a:xfrm>
            <a:off x="813816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a:t>
            </a:r>
            <a:endParaRPr lang="en-US" sz="1600" dirty="0"/>
          </a:p>
        </p:txBody>
      </p:sp>
      <p:sp>
        <p:nvSpPr>
          <p:cNvPr id="7" name="Text 5"/>
          <p:cNvSpPr txBox="1"/>
          <p:nvPr/>
        </p:nvSpPr>
        <p:spPr>
          <a:xfrm>
            <a:off x="8778240" y="1371600"/>
            <a:ext cx="2926080" cy="457200"/>
          </a:xfrm>
          <a:prstGeom prst="rect">
            <a:avLst/>
          </a:prstGeom>
          <a:noFill/>
          <a:ln/>
        </p:spPr>
        <p:txBody>
          <a:bodyPr wrap="square" lIns="0" tIns="0" rIns="0" bIns="0" rtlCol="0" anchor="ctr"/>
          <a:lstStyle/>
          <a:p>
            <a:pPr indent="0" marL="0">
              <a:buNone/>
            </a:pPr>
            <a:r>
              <a:rPr lang="en-US" sz="1800" dirty="0">
                <a:solidFill>
                  <a:schemeClr val="bg1"/>
                </a:solidFill>
              </a:rPr>
              <a:t>Tested</a:t>
            </a:r>
            <a:endParaRPr lang="en-US" sz="1800" dirty="0"/>
          </a:p>
        </p:txBody>
      </p:sp>
      <p:sp>
        <p:nvSpPr>
          <p:cNvPr id="8" name="Shape 6"/>
          <p:cNvSpPr/>
          <p:nvPr/>
        </p:nvSpPr>
        <p:spPr>
          <a:xfrm>
            <a:off x="8138160" y="2057400"/>
            <a:ext cx="457200" cy="457200"/>
          </a:xfrm>
          <a:prstGeom prst="ellipse">
            <a:avLst/>
          </a:prstGeom>
          <a:solidFill>
            <a:schemeClr val="accent3"/>
          </a:solidFill>
          <a:ln w="6350">
            <a:solidFill>
              <a:schemeClr val="accent3"/>
            </a:solidFill>
            <a:prstDash val="solid"/>
          </a:ln>
        </p:spPr>
      </p:sp>
      <p:sp>
        <p:nvSpPr>
          <p:cNvPr id="9" name="Text 7"/>
          <p:cNvSpPr txBox="1"/>
          <p:nvPr/>
        </p:nvSpPr>
        <p:spPr>
          <a:xfrm>
            <a:off x="8138160" y="2057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a:t>
            </a:r>
            <a:endParaRPr lang="en-US" sz="1600" dirty="0"/>
          </a:p>
        </p:txBody>
      </p:sp>
      <p:sp>
        <p:nvSpPr>
          <p:cNvPr id="10" name="Text 8"/>
          <p:cNvSpPr txBox="1"/>
          <p:nvPr/>
        </p:nvSpPr>
        <p:spPr>
          <a:xfrm>
            <a:off x="8778240" y="2057400"/>
            <a:ext cx="2926080" cy="457200"/>
          </a:xfrm>
          <a:prstGeom prst="rect">
            <a:avLst/>
          </a:prstGeom>
          <a:noFill/>
          <a:ln/>
        </p:spPr>
        <p:txBody>
          <a:bodyPr wrap="square" lIns="0" tIns="0" rIns="0" bIns="0" rtlCol="0" anchor="ctr"/>
          <a:lstStyle/>
          <a:p>
            <a:pPr indent="0" marL="0">
              <a:buNone/>
            </a:pPr>
            <a:r>
              <a:rPr lang="en-US" sz="1800" dirty="0">
                <a:solidFill>
                  <a:schemeClr val="bg1"/>
                </a:solidFill>
              </a:rPr>
              <a:t>Scanned</a:t>
            </a:r>
            <a:endParaRPr lang="en-US" sz="1800" dirty="0"/>
          </a:p>
        </p:txBody>
      </p:sp>
      <p:sp>
        <p:nvSpPr>
          <p:cNvPr id="11" name="Shape 9"/>
          <p:cNvSpPr/>
          <p:nvPr/>
        </p:nvSpPr>
        <p:spPr>
          <a:xfrm>
            <a:off x="8138160" y="2743200"/>
            <a:ext cx="457200" cy="457200"/>
          </a:xfrm>
          <a:prstGeom prst="ellipse">
            <a:avLst/>
          </a:prstGeom>
          <a:solidFill>
            <a:schemeClr val="accent3"/>
          </a:solidFill>
          <a:ln w="6350">
            <a:solidFill>
              <a:schemeClr val="accent3"/>
            </a:solidFill>
            <a:prstDash val="solid"/>
          </a:ln>
        </p:spPr>
      </p:sp>
      <p:sp>
        <p:nvSpPr>
          <p:cNvPr id="12" name="Text 10"/>
          <p:cNvSpPr txBox="1"/>
          <p:nvPr/>
        </p:nvSpPr>
        <p:spPr>
          <a:xfrm>
            <a:off x="8138160" y="2743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a:t>
            </a:r>
            <a:endParaRPr lang="en-US" sz="1600" dirty="0"/>
          </a:p>
        </p:txBody>
      </p:sp>
      <p:sp>
        <p:nvSpPr>
          <p:cNvPr id="13" name="Text 11"/>
          <p:cNvSpPr txBox="1"/>
          <p:nvPr/>
        </p:nvSpPr>
        <p:spPr>
          <a:xfrm>
            <a:off x="8778240" y="2743200"/>
            <a:ext cx="2926080" cy="457200"/>
          </a:xfrm>
          <a:prstGeom prst="rect">
            <a:avLst/>
          </a:prstGeom>
          <a:noFill/>
          <a:ln/>
        </p:spPr>
        <p:txBody>
          <a:bodyPr wrap="square" lIns="0" tIns="0" rIns="0" bIns="0" rtlCol="0" anchor="ctr"/>
          <a:lstStyle/>
          <a:p>
            <a:pPr indent="0" marL="0">
              <a:buNone/>
            </a:pPr>
            <a:r>
              <a:rPr lang="en-US" sz="1800" dirty="0">
                <a:solidFill>
                  <a:schemeClr val="bg1"/>
                </a:solidFill>
              </a:rPr>
              <a:t>Containerised</a:t>
            </a:r>
            <a:endParaRPr lang="en-US" sz="1800" dirty="0"/>
          </a:p>
        </p:txBody>
      </p:sp>
      <p:sp>
        <p:nvSpPr>
          <p:cNvPr id="14" name="Shape 12"/>
          <p:cNvSpPr/>
          <p:nvPr/>
        </p:nvSpPr>
        <p:spPr>
          <a:xfrm>
            <a:off x="8138160" y="3429000"/>
            <a:ext cx="457200" cy="457200"/>
          </a:xfrm>
          <a:prstGeom prst="ellipse">
            <a:avLst/>
          </a:prstGeom>
          <a:solidFill>
            <a:schemeClr val="accent3"/>
          </a:solidFill>
          <a:ln w="6350">
            <a:solidFill>
              <a:schemeClr val="accent3"/>
            </a:solidFill>
            <a:prstDash val="solid"/>
          </a:ln>
        </p:spPr>
      </p:sp>
      <p:sp>
        <p:nvSpPr>
          <p:cNvPr id="15" name="Text 13"/>
          <p:cNvSpPr txBox="1"/>
          <p:nvPr/>
        </p:nvSpPr>
        <p:spPr>
          <a:xfrm>
            <a:off x="813816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a:t>
            </a:r>
            <a:endParaRPr lang="en-US" sz="1600" dirty="0"/>
          </a:p>
        </p:txBody>
      </p:sp>
      <p:sp>
        <p:nvSpPr>
          <p:cNvPr id="16" name="Text 14"/>
          <p:cNvSpPr txBox="1"/>
          <p:nvPr/>
        </p:nvSpPr>
        <p:spPr>
          <a:xfrm>
            <a:off x="8778240" y="3429000"/>
            <a:ext cx="2926080" cy="457200"/>
          </a:xfrm>
          <a:prstGeom prst="rect">
            <a:avLst/>
          </a:prstGeom>
          <a:noFill/>
          <a:ln/>
        </p:spPr>
        <p:txBody>
          <a:bodyPr wrap="square" lIns="0" tIns="0" rIns="0" bIns="0" rtlCol="0" anchor="ctr"/>
          <a:lstStyle/>
          <a:p>
            <a:pPr indent="0" marL="0">
              <a:buNone/>
            </a:pPr>
            <a:r>
              <a:rPr lang="en-US" sz="1800" dirty="0">
                <a:solidFill>
                  <a:schemeClr val="bg1"/>
                </a:solidFill>
              </a:rPr>
              <a:t>Provisioned as code</a:t>
            </a:r>
            <a:endParaRPr lang="en-US" sz="1800" dirty="0"/>
          </a:p>
        </p:txBody>
      </p:sp>
      <p:sp>
        <p:nvSpPr>
          <p:cNvPr id="17" name="Shape 15"/>
          <p:cNvSpPr/>
          <p:nvPr/>
        </p:nvSpPr>
        <p:spPr>
          <a:xfrm>
            <a:off x="8138160" y="4114800"/>
            <a:ext cx="457200" cy="457200"/>
          </a:xfrm>
          <a:prstGeom prst="ellipse">
            <a:avLst/>
          </a:prstGeom>
          <a:solidFill>
            <a:schemeClr val="accent3"/>
          </a:solidFill>
          <a:ln w="6350">
            <a:solidFill>
              <a:schemeClr val="accent3"/>
            </a:solidFill>
            <a:prstDash val="solid"/>
          </a:ln>
        </p:spPr>
      </p:sp>
      <p:sp>
        <p:nvSpPr>
          <p:cNvPr id="18" name="Text 16"/>
          <p:cNvSpPr txBox="1"/>
          <p:nvPr/>
        </p:nvSpPr>
        <p:spPr>
          <a:xfrm>
            <a:off x="813816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a:t>
            </a:r>
            <a:endParaRPr lang="en-US" sz="1600" dirty="0"/>
          </a:p>
        </p:txBody>
      </p:sp>
      <p:sp>
        <p:nvSpPr>
          <p:cNvPr id="19" name="Text 17"/>
          <p:cNvSpPr txBox="1"/>
          <p:nvPr/>
        </p:nvSpPr>
        <p:spPr>
          <a:xfrm>
            <a:off x="8778240" y="4114800"/>
            <a:ext cx="2926080" cy="457200"/>
          </a:xfrm>
          <a:prstGeom prst="rect">
            <a:avLst/>
          </a:prstGeom>
          <a:noFill/>
          <a:ln/>
        </p:spPr>
        <p:txBody>
          <a:bodyPr wrap="square" lIns="0" tIns="0" rIns="0" bIns="0" rtlCol="0" anchor="ctr"/>
          <a:lstStyle/>
          <a:p>
            <a:pPr indent="0" marL="0">
              <a:buNone/>
            </a:pPr>
            <a:r>
              <a:rPr lang="en-US" sz="1800" dirty="0">
                <a:solidFill>
                  <a:schemeClr val="bg1"/>
                </a:solidFill>
              </a:rPr>
              <a:t>Autoscaled</a:t>
            </a:r>
            <a:endParaRPr lang="en-US" sz="1800" dirty="0"/>
          </a:p>
        </p:txBody>
      </p:sp>
      <p:sp>
        <p:nvSpPr>
          <p:cNvPr id="20" name="Shape 18"/>
          <p:cNvSpPr/>
          <p:nvPr/>
        </p:nvSpPr>
        <p:spPr>
          <a:xfrm>
            <a:off x="8138160" y="4800600"/>
            <a:ext cx="457200" cy="457200"/>
          </a:xfrm>
          <a:prstGeom prst="ellipse">
            <a:avLst/>
          </a:prstGeom>
          <a:solidFill>
            <a:schemeClr val="accent3"/>
          </a:solidFill>
          <a:ln w="6350">
            <a:solidFill>
              <a:schemeClr val="accent3"/>
            </a:solidFill>
            <a:prstDash val="solid"/>
          </a:ln>
        </p:spPr>
      </p:sp>
      <p:sp>
        <p:nvSpPr>
          <p:cNvPr id="21" name="Text 19"/>
          <p:cNvSpPr txBox="1"/>
          <p:nvPr/>
        </p:nvSpPr>
        <p:spPr>
          <a:xfrm>
            <a:off x="8138160" y="4800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a:t>
            </a:r>
            <a:endParaRPr lang="en-US" sz="1600" dirty="0"/>
          </a:p>
        </p:txBody>
      </p:sp>
      <p:sp>
        <p:nvSpPr>
          <p:cNvPr id="22" name="Text 20"/>
          <p:cNvSpPr txBox="1"/>
          <p:nvPr/>
        </p:nvSpPr>
        <p:spPr>
          <a:xfrm>
            <a:off x="8778240" y="4800600"/>
            <a:ext cx="2926080" cy="457200"/>
          </a:xfrm>
          <a:prstGeom prst="rect">
            <a:avLst/>
          </a:prstGeom>
          <a:noFill/>
          <a:ln/>
        </p:spPr>
        <p:txBody>
          <a:bodyPr wrap="square" lIns="0" tIns="0" rIns="0" bIns="0" rtlCol="0" anchor="ctr"/>
          <a:lstStyle/>
          <a:p>
            <a:pPr indent="0" marL="0">
              <a:buNone/>
            </a:pPr>
            <a:r>
              <a:rPr lang="en-US" sz="1800" dirty="0">
                <a:solidFill>
                  <a:schemeClr val="bg1"/>
                </a:solidFill>
              </a:rPr>
              <a:t>Monitored</a:t>
            </a:r>
            <a:endParaRPr lang="en-US" sz="1800" dirty="0"/>
          </a:p>
        </p:txBody>
      </p:sp>
    </p:spTree>
  </p:cSld>
  <p:clrMapOvr>
    <a:masterClrMapping/>
  </p:clrMapOvr>
</p:sld>
</file>

<file path=ppt/theme/theme1.xml><?xml version="1.0" encoding="utf-8"?>
<a:theme xmlns:a="http://schemas.openxmlformats.org/drawingml/2006/main" name="StockPilot">
  <a:themeElements>
    <a:clrScheme name="StockPilot">
      <a:dk1>
        <a:srgbClr val="0F172A"/>
      </a:dk1>
      <a:lt1>
        <a:srgbClr val="FFFFFF"/>
      </a:lt1>
      <a:dk2>
        <a:srgbClr val="1E293B"/>
      </a:dk2>
      <a:lt2>
        <a:srgbClr val="F1F5F9"/>
      </a:lt2>
      <a:accent1>
        <a:srgbClr val="0EA5E9"/>
      </a:accent1>
      <a:accent2>
        <a:srgbClr val="F59E0B"/>
      </a:accent2>
      <a:accent3>
        <a:srgbClr val="16A34A"/>
      </a:accent3>
      <a:accent4>
        <a:srgbClr val="DC2626"/>
      </a:accent4>
      <a:accent5>
        <a:srgbClr val="7C3AED"/>
      </a:accent5>
      <a:accent6>
        <a:srgbClr val="64748B"/>
      </a:accent6>
      <a:hlink>
        <a:srgbClr val="0284C7"/>
      </a:hlink>
      <a:folHlink>
        <a:srgbClr val="7C3AED"/>
      </a:folHlink>
    </a:clrScheme>
    <a:fontScheme name="Stock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DevOps Final Capstone</dc:title>
  <dc:subject>PptxGenJS Presentation</dc:subject>
  <dc:creator>Sarthak Agarwal</dc:creator>
  <cp:lastModifiedBy>Sarthak Agarwal</cp:lastModifiedBy>
  <cp:revision>1</cp:revision>
  <dcterms:created xsi:type="dcterms:W3CDTF">2026-10-14T14:12:39Z</dcterms:created>
  <dcterms:modified xsi:type="dcterms:W3CDTF">2026-10-14T14:12:39Z</dcterms:modified>
</cp:coreProperties>
</file>